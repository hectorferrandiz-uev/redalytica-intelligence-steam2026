
<file path=[Content_Types].xml><?xml version="1.0" encoding="utf-8"?>
<Types xmlns="http://schemas.openxmlformats.org/package/2006/content-types">
  <Default Extension="xlsx" ContentType="application/vnd.openxmlformats-officedocument.spreadsheetml.sheet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none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Generación peninsular (MW)</c:v>
                </c:pt>
              </c:strCache>
            </c:strRef>
          </c:tx>
          <c:spPr>
            <a:ln w="31750" cap="flat" cmpd="sng" algn="ctr">
              <a:solidFill>
                <a:srgbClr val="00D9FF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0D9FF"/>
              </a:solidFill>
              <a:ln w="9525" cap="flat" cmpd="sng" algn="ctr">
                <a:solidFill>
                  <a:srgbClr val="00D9FF"/>
                </a:solidFill>
                <a:prstDash val="solid"/>
                <a:round/>
              </a:ln>
              <a:effectLst/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dLbl>
              <c:idx val="5"/>
              <c:delete val="1"/>
            </c:dLbl>
            <c:dLbl>
              <c:idx val="6"/>
              <c:delete val="1"/>
            </c:dLbl>
            <c:dLbl>
              <c:idx val="7"/>
              <c:delete val="1"/>
            </c:dLbl>
            <c:dLbl>
              <c:idx val="8"/>
              <c:delete val="1"/>
            </c:dLbl>
            <c:dLbl>
              <c:idx val="9"/>
              <c:delete val="1"/>
            </c:dLbl>
            <c:dLbl>
              <c:idx val="10"/>
              <c:delete val="1"/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s-ES" sz="12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Sheet1!$A$2:$A$12</c:f>
              <c:strCache>
                <c:ptCount val="11"/>
                <c:pt idx="0">
                  <c:v>25 Abr</c:v>
                </c:pt>
                <c:pt idx="1">
                  <c:v>26 Abr</c:v>
                </c:pt>
                <c:pt idx="2">
                  <c:v>27 Abr</c:v>
                </c:pt>
                <c:pt idx="3">
                  <c:v>28 06:00</c:v>
                </c:pt>
                <c:pt idx="4">
                  <c:v>28 12:00</c:v>
                </c:pt>
                <c:pt idx="5">
                  <c:v>28 12:33</c:v>
                </c:pt>
                <c:pt idx="6">
                  <c:v>28 14:00</c:v>
                </c:pt>
                <c:pt idx="7">
                  <c:v>28 18:00</c:v>
                </c:pt>
                <c:pt idx="8">
                  <c:v>28 23:00</c:v>
                </c:pt>
                <c:pt idx="9">
                  <c:v>29 Abr</c:v>
                </c:pt>
                <c:pt idx="10">
                  <c:v>30 Abr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42500</c:v>
                </c:pt>
                <c:pt idx="1">
                  <c:v>38000</c:v>
                </c:pt>
                <c:pt idx="2">
                  <c:v>41200</c:v>
                </c:pt>
                <c:pt idx="3">
                  <c:v>39500</c:v>
                </c:pt>
                <c:pt idx="4">
                  <c:v>50187</c:v>
                </c:pt>
                <c:pt idx="5">
                  <c:v>0</c:v>
                </c:pt>
                <c:pt idx="6">
                  <c:v>8500</c:v>
                </c:pt>
                <c:pt idx="7">
                  <c:v>24000</c:v>
                </c:pt>
                <c:pt idx="8">
                  <c:v>34500</c:v>
                </c:pt>
                <c:pt idx="9">
                  <c:v>38200</c:v>
                </c:pt>
                <c:pt idx="10">
                  <c:v>41800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 cmpd="sng" algn="ctr">
            <a:solidFill>
              <a:srgbClr val="3A435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s-ES" sz="800" b="0" i="0" u="none" strike="noStrike" kern="1200" baseline="0">
                <a:solidFill>
                  <a:srgbClr val="5B6783"/>
                </a:solidFill>
                <a:latin typeface="Consolas" panose="020B060902020403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 cmpd="sng" algn="ctr">
              <a:solidFill>
                <a:srgbClr val="1E274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 cmpd="sng" algn="ctr">
            <a:solidFill>
              <a:srgbClr val="3A435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s-ES" sz="800" b="0" i="0" u="none" strike="noStrike" kern="1200" baseline="0">
                <a:solidFill>
                  <a:srgbClr val="5B6783"/>
                </a:solidFill>
                <a:latin typeface="Consolas" panose="020B060902020403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solidFill>
          <a:srgbClr val="111726"/>
        </a:solidFill>
        <a:ln>
          <a:noFill/>
        </a:ln>
        <a:effectLst/>
      </c:spPr>
    </c:plotArea>
    <c:plotVisOnly val="1"/>
    <c:dispBlanksAs val="span"/>
    <c:showDLblsOverMax val="0"/>
    <c:extLst>
      <c:ext uri="{0b15fc19-7d7d-44ad-8c2d-2c3a37ce22c3}">
        <chartProps xmlns="https://web.wps.cn/et/2018/main" chartId="{69de3d29-fff3-4051-913b-d9c97e9f1796}"/>
      </c:ext>
    </c:extLst>
  </c:chart>
  <c:spPr>
    <a:solidFill>
      <a:srgbClr val="111726"/>
    </a:solidFill>
    <a:ln w="9525" cap="flat">
      <a:solidFill>
        <a:srgbClr val="1E2740"/>
      </a:solidFill>
    </a:ln>
    <a:effectLst/>
  </c:spPr>
  <c:txPr>
    <a:bodyPr/>
    <a:lstStyle/>
    <a:p>
      <a:pPr>
        <a:defRPr lang="es-ES"/>
      </a:pPr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00D9FF"/>
            </a:solidFill>
            <a:effectLst/>
          </c:spPr>
          <c:invertIfNegative val="0"/>
          <c:dLbls>
            <c:numFmt formatCode="#,##0\ &quot;€&quot;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s-ES" sz="1100" b="1" i="0" u="none" strike="noStrike" kern="1200" baseline="0">
                    <a:solidFill>
                      <a:srgbClr val="F0F4FA"/>
                    </a:solidFill>
                    <a:latin typeface="Consolas" panose="020B060902020403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Sheet1!$A$2:$A$4</c:f>
              <c:strCache>
                <c:ptCount val="3"/>
                <c:pt idx="0">
                  <c:v>YEAR 1</c:v>
                </c:pt>
                <c:pt idx="1">
                  <c:v>YEAR 2</c:v>
                </c:pt>
                <c:pt idx="2">
                  <c:v>YEAR 3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45000</c:v>
                </c:pt>
                <c:pt idx="1">
                  <c:v>210000</c:v>
                </c:pt>
                <c:pt idx="2">
                  <c:v>560000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8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 cmpd="sng" algn="ctr">
            <a:solidFill>
              <a:srgbClr val="3A435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s-ES" sz="1000" b="0" i="0" u="none" strike="noStrike" kern="1200" baseline="0">
                <a:solidFill>
                  <a:srgbClr val="5B6783"/>
                </a:solidFill>
                <a:latin typeface="Consolas" panose="020B060902020403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 cmpd="sng" algn="ctr">
              <a:solidFill>
                <a:srgbClr val="1E274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 cmpd="sng" algn="ctr">
            <a:solidFill>
              <a:srgbClr val="3A435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s-ES" sz="800" b="0" i="0" u="none" strike="noStrike" kern="1200" baseline="0">
                <a:solidFill>
                  <a:srgbClr val="5B6783"/>
                </a:solidFill>
                <a:latin typeface="Consolas" panose="020B060902020403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solidFill>
          <a:srgbClr val="111726"/>
        </a:solidFill>
        <a:ln>
          <a:noFill/>
        </a:ln>
        <a:effectLst/>
      </c:spPr>
    </c:plotArea>
    <c:plotVisOnly val="1"/>
    <c:dispBlanksAs val="span"/>
    <c:showDLblsOverMax val="0"/>
    <c:extLst>
      <c:ext uri="{0b15fc19-7d7d-44ad-8c2d-2c3a37ce22c3}">
        <chartProps xmlns="https://web.wps.cn/et/2018/main" chartId="{f988d9ef-38a1-4217-ba6c-d675cde62824}"/>
      </c:ext>
    </c:extLst>
  </c:chart>
  <c:spPr>
    <a:solidFill>
      <a:srgbClr val="111726"/>
    </a:solidFill>
    <a:ln w="9525" cap="flat">
      <a:solidFill>
        <a:srgbClr val="1E2740"/>
      </a:solidFill>
    </a:ln>
    <a:effectLst/>
  </c:spPr>
  <c:txPr>
    <a:bodyPr/>
    <a:lstStyle/>
    <a:p>
      <a:pPr>
        <a:defRPr lang="es-ES"/>
      </a:pPr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chart" Target="../charts/char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chart" Target="../charts/char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2.x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48640"/>
            <a:ext cx="91440" cy="91440"/>
          </a:xfrm>
          <a:prstGeom prst="ellipse">
            <a:avLst/>
          </a:prstGeom>
          <a:solidFill>
            <a:srgbClr val="00D9FF"/>
          </a:solidFill>
        </p:spPr>
      </p:sp>
      <p:sp>
        <p:nvSpPr>
          <p:cNvPr id="3" name="Text 1"/>
          <p:cNvSpPr/>
          <p:nvPr/>
        </p:nvSpPr>
        <p:spPr>
          <a:xfrm>
            <a:off x="640080" y="45720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500" dirty="0">
                <a:solidFill>
                  <a:srgbClr val="00D9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REDALYTICA.INTEL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685800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2011680"/>
            <a:ext cx="1371600" cy="0"/>
          </a:xfrm>
          <a:prstGeom prst="line">
            <a:avLst/>
          </a:prstGeom>
          <a:noFill/>
          <a:ln w="25400">
            <a:solidFill>
              <a:srgbClr val="00D9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240280"/>
            <a:ext cx="11277295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A8B3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Spanish electricity market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457200" y="2971800"/>
            <a:ext cx="11277295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0F4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intelligence, decoded.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457200" y="4069080"/>
            <a:ext cx="914400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8B3CC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Análisis cuantitativo del sistema eléctrico peninsular 2020–2026.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A8B3CC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Producto comercial defendible. Mercado direccionable de 80–120 M€/año.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5212080"/>
            <a:ext cx="11277295" cy="0"/>
          </a:xfrm>
          <a:prstGeom prst="line">
            <a:avLst/>
          </a:prstGeom>
          <a:noFill/>
          <a:ln w="6350">
            <a:solidFill>
              <a:srgbClr val="3A435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5394960"/>
            <a:ext cx="25603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5B678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DATASET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57200" y="5669280"/>
            <a:ext cx="25603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D9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270.544 records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291840" y="5394960"/>
            <a:ext cx="25603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altLang="en-US" sz="800" b="1" kern="0" spc="300" dirty="0">
                <a:solidFill>
                  <a:srgbClr val="5B678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FUENTES</a:t>
            </a:r>
            <a:endParaRPr lang="es-ES" altLang="en-US" sz="800" b="1" kern="0" spc="300" dirty="0">
              <a:solidFill>
                <a:srgbClr val="5B6783"/>
              </a:solidFill>
              <a:latin typeface="Consolas" panose="020B0609020204030204" pitchFamily="34" charset="0"/>
              <a:ea typeface="Consolas" panose="020B0609020204030204" pitchFamily="34" charset="-122"/>
              <a:cs typeface="Consolas" panose="020B0609020204030204" pitchFamily="34" charset="-12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3291840" y="5669280"/>
            <a:ext cx="25603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D9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REE · OMIE · CNMC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126480" y="5394960"/>
            <a:ext cx="25603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5B678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COVERAGE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126480" y="5669280"/>
            <a:ext cx="25603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D9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6Y daily / hourly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961120" y="5394960"/>
            <a:ext cx="25603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5B678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ME</a:t>
            </a:r>
            <a:r>
              <a:rPr lang="es-ES" altLang="en-US" sz="800" b="1" kern="0" spc="300" dirty="0">
                <a:solidFill>
                  <a:srgbClr val="5B678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DIDAS</a:t>
            </a:r>
            <a:endParaRPr lang="es-ES" altLang="en-US" sz="800" b="1" kern="0" spc="300" dirty="0">
              <a:solidFill>
                <a:srgbClr val="5B6783"/>
              </a:solidFill>
              <a:latin typeface="Consolas" panose="020B0609020204030204" pitchFamily="34" charset="0"/>
              <a:ea typeface="Consolas" panose="020B0609020204030204" pitchFamily="34" charset="-122"/>
              <a:cs typeface="Consolas" panose="020B0609020204030204" pitchFamily="34" charset="-12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8961120" y="5669280"/>
            <a:ext cx="25603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D9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65 audited DAX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57200" y="6080760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5B678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PRESENTED BY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57200" y="635508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B3CC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Héctor Ferrándiz  ·  Martina Arellano  ·  David González  ·  Irene Bautista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905695" y="6080760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8076895" y="635508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8B3CC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Universidad Europea de Valencia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868680"/>
            <a:ext cx="11277295" cy="0"/>
          </a:xfrm>
          <a:prstGeom prst="line">
            <a:avLst/>
          </a:prstGeom>
          <a:noFill/>
          <a:ln w="6350">
            <a:solidFill>
              <a:srgbClr val="3A435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6355080"/>
            <a:ext cx="11277295" cy="0"/>
          </a:xfrm>
          <a:prstGeom prst="line">
            <a:avLst/>
          </a:prstGeom>
          <a:noFill/>
          <a:ln w="6350">
            <a:solidFill>
              <a:srgbClr val="3A435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502920"/>
            <a:ext cx="91440" cy="91440"/>
          </a:xfrm>
          <a:prstGeom prst="ellipse">
            <a:avLst/>
          </a:prstGeom>
          <a:solidFill>
            <a:srgbClr val="00D9FF"/>
          </a:solidFill>
        </p:spPr>
      </p:sp>
      <p:sp>
        <p:nvSpPr>
          <p:cNvPr id="5" name="Text 3"/>
          <p:cNvSpPr/>
          <p:nvPr/>
        </p:nvSpPr>
        <p:spPr>
          <a:xfrm>
            <a:off x="640080" y="41148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00D9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[ 02 ]  TRIGGER EVENT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" y="594360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9448495" y="457200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300" dirty="0">
                <a:solidFill>
                  <a:srgbClr val="A8B3C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REDALYTICA.INTEL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6492240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78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02 / 13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438248" y="6492240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kern="0" spc="200" dirty="0">
                <a:solidFill>
                  <a:srgbClr val="5B678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REDALYTICA INTELLIGENCE  ·  MARKET INTELLIGENCE PLATFORM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9905695" y="6492240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kern="0" spc="300" dirty="0">
                <a:solidFill>
                  <a:srgbClr val="5B678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57200" y="960120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500" dirty="0">
                <a:solidFill>
                  <a:srgbClr val="FF6B6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EL EVENTO QUE LO CAMBIÓ TODO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57200" y="1143000"/>
            <a:ext cx="11277295" cy="1554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0F4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 apagón nacional reveló lo que</a:t>
            </a:r>
            <a:endParaRPr lang="en-US" sz="3200" dirty="0"/>
          </a:p>
          <a:p>
            <a:pPr marL="0" indent="0">
              <a:buNone/>
            </a:pPr>
            <a:r>
              <a:rPr lang="en-US" sz="3200" b="1" dirty="0">
                <a:solidFill>
                  <a:srgbClr val="F0F4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llevábamos años ignorando.</a:t>
            </a:r>
            <a:endParaRPr lang="en-US" sz="3200" dirty="0"/>
          </a:p>
        </p:txBody>
      </p:sp>
      <p:sp>
        <p:nvSpPr>
          <p:cNvPr id="13" name="Shape 11"/>
          <p:cNvSpPr/>
          <p:nvPr/>
        </p:nvSpPr>
        <p:spPr>
          <a:xfrm>
            <a:off x="457200" y="2880360"/>
            <a:ext cx="5486400" cy="3383280"/>
          </a:xfrm>
          <a:prstGeom prst="rect">
            <a:avLst/>
          </a:prstGeom>
          <a:solidFill>
            <a:srgbClr val="111726"/>
          </a:solidFill>
          <a:ln w="9525">
            <a:solidFill>
              <a:srgbClr val="FF6B6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2880360"/>
            <a:ext cx="5486400" cy="45720"/>
          </a:xfrm>
          <a:prstGeom prst="rect">
            <a:avLst/>
          </a:prstGeom>
          <a:solidFill>
            <a:srgbClr val="FF6B6B"/>
          </a:solidFill>
        </p:spPr>
      </p:sp>
      <p:sp>
        <p:nvSpPr>
          <p:cNvPr id="15" name="Text 13"/>
          <p:cNvSpPr/>
          <p:nvPr/>
        </p:nvSpPr>
        <p:spPr>
          <a:xfrm>
            <a:off x="685800" y="3063240"/>
            <a:ext cx="5029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5B678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ECONOMIC LOSS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85800" y="3566160"/>
            <a:ext cx="502920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800" b="1" dirty="0">
                <a:solidFill>
                  <a:srgbClr val="FF6B6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1.300 — 1.800</a:t>
            </a:r>
            <a:endParaRPr lang="en-US" sz="4800" dirty="0"/>
          </a:p>
        </p:txBody>
      </p:sp>
      <p:sp>
        <p:nvSpPr>
          <p:cNvPr id="17" name="Text 15"/>
          <p:cNvSpPr/>
          <p:nvPr/>
        </p:nvSpPr>
        <p:spPr>
          <a:xfrm>
            <a:off x="685800" y="4617720"/>
            <a:ext cx="5029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A8B3CC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millones de euros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685800" y="5120640"/>
            <a:ext cx="5029200" cy="0"/>
          </a:xfrm>
          <a:prstGeom prst="line">
            <a:avLst/>
          </a:prstGeom>
          <a:noFill/>
          <a:ln w="6350">
            <a:solidFill>
              <a:srgbClr val="3A435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5800" y="5257800"/>
            <a:ext cx="5029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B3CC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Pérdidas para la economía española en 8–10 horas.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85800" y="5577840"/>
            <a:ext cx="5029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B678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Source: CEOE &amp; CEPYME, 2025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263640" y="288036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5B678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IMPACT METRICS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263640" y="3200400"/>
            <a:ext cx="5486400" cy="960120"/>
          </a:xfrm>
          <a:prstGeom prst="rect">
            <a:avLst/>
          </a:prstGeom>
          <a:solidFill>
            <a:srgbClr val="111726"/>
          </a:solidFill>
          <a:ln w="9525">
            <a:solidFill>
              <a:srgbClr val="1E274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263640" y="3200400"/>
            <a:ext cx="5486400" cy="36576"/>
          </a:xfrm>
          <a:prstGeom prst="rect">
            <a:avLst/>
          </a:prstGeom>
          <a:solidFill>
            <a:srgbClr val="FF6B6B"/>
          </a:solidFill>
        </p:spPr>
      </p:sp>
      <p:sp>
        <p:nvSpPr>
          <p:cNvPr id="24" name="Text 22"/>
          <p:cNvSpPr/>
          <p:nvPr/>
        </p:nvSpPr>
        <p:spPr>
          <a:xfrm>
            <a:off x="6492240" y="3310128"/>
            <a:ext cx="50292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5B678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GENERATION DROP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6492240" y="3547872"/>
            <a:ext cx="5029200" cy="3840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6B6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−44.3%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6492240" y="3867912"/>
            <a:ext cx="5029200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A8B3CC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Peninsular generation in the critical window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263640" y="4251960"/>
            <a:ext cx="5486400" cy="960120"/>
          </a:xfrm>
          <a:prstGeom prst="rect">
            <a:avLst/>
          </a:prstGeom>
          <a:solidFill>
            <a:srgbClr val="111726"/>
          </a:solidFill>
          <a:ln w="9525">
            <a:solidFill>
              <a:srgbClr val="1E274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263640" y="4251960"/>
            <a:ext cx="5486400" cy="36576"/>
          </a:xfrm>
          <a:prstGeom prst="rect">
            <a:avLst/>
          </a:prstGeom>
          <a:solidFill>
            <a:srgbClr val="FF6B6B"/>
          </a:solidFill>
        </p:spPr>
      </p:sp>
      <p:sp>
        <p:nvSpPr>
          <p:cNvPr id="29" name="Text 27"/>
          <p:cNvSpPr/>
          <p:nvPr/>
        </p:nvSpPr>
        <p:spPr>
          <a:xfrm>
            <a:off x="6492240" y="4361688"/>
            <a:ext cx="50292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5B678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DEMAND COLLAPSE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492240" y="4599432"/>
            <a:ext cx="5029200" cy="3840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6B6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50.000 → 0 MW</a:t>
            </a:r>
            <a:endParaRPr lang="en-US" sz="2400" dirty="0"/>
          </a:p>
        </p:txBody>
      </p:sp>
      <p:sp>
        <p:nvSpPr>
          <p:cNvPr id="31" name="Text 29"/>
          <p:cNvSpPr/>
          <p:nvPr/>
        </p:nvSpPr>
        <p:spPr>
          <a:xfrm>
            <a:off x="6492240" y="4919472"/>
            <a:ext cx="5029200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A8B3CC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In a matter of minutes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263640" y="5303520"/>
            <a:ext cx="5486400" cy="960120"/>
          </a:xfrm>
          <a:prstGeom prst="rect">
            <a:avLst/>
          </a:prstGeom>
          <a:solidFill>
            <a:srgbClr val="111726"/>
          </a:solidFill>
          <a:ln w="9525">
            <a:solidFill>
              <a:srgbClr val="1E274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263640" y="5303520"/>
            <a:ext cx="5486400" cy="36576"/>
          </a:xfrm>
          <a:prstGeom prst="rect">
            <a:avLst/>
          </a:prstGeom>
          <a:solidFill>
            <a:srgbClr val="F5C518"/>
          </a:solidFill>
        </p:spPr>
      </p:sp>
      <p:sp>
        <p:nvSpPr>
          <p:cNvPr id="34" name="Text 32"/>
          <p:cNvSpPr/>
          <p:nvPr/>
        </p:nvSpPr>
        <p:spPr>
          <a:xfrm>
            <a:off x="6492240" y="5413248"/>
            <a:ext cx="50292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5B678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PYMES AFFECTED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6492240" y="5650992"/>
            <a:ext cx="5029200" cy="3840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5C51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280.000</a:t>
            </a:r>
            <a:endParaRPr lang="en-US" sz="2400" dirty="0"/>
          </a:p>
        </p:txBody>
      </p:sp>
      <p:sp>
        <p:nvSpPr>
          <p:cNvPr id="36" name="Text 34"/>
          <p:cNvSpPr/>
          <p:nvPr/>
        </p:nvSpPr>
        <p:spPr>
          <a:xfrm>
            <a:off x="6492240" y="5971032"/>
            <a:ext cx="5029200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A8B3CC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Total operational interruption (CEPYME)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868680"/>
            <a:ext cx="11277295" cy="0"/>
          </a:xfrm>
          <a:prstGeom prst="line">
            <a:avLst/>
          </a:prstGeom>
          <a:noFill/>
          <a:ln w="6350">
            <a:solidFill>
              <a:srgbClr val="3A435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6355080"/>
            <a:ext cx="11277295" cy="0"/>
          </a:xfrm>
          <a:prstGeom prst="line">
            <a:avLst/>
          </a:prstGeom>
          <a:noFill/>
          <a:ln w="6350">
            <a:solidFill>
              <a:srgbClr val="3A435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502920"/>
            <a:ext cx="91440" cy="91440"/>
          </a:xfrm>
          <a:prstGeom prst="ellipse">
            <a:avLst/>
          </a:prstGeom>
          <a:solidFill>
            <a:srgbClr val="00D9FF"/>
          </a:solidFill>
        </p:spPr>
      </p:sp>
      <p:sp>
        <p:nvSpPr>
          <p:cNvPr id="5" name="Text 3"/>
          <p:cNvSpPr/>
          <p:nvPr/>
        </p:nvSpPr>
        <p:spPr>
          <a:xfrm>
            <a:off x="640080" y="41148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00D9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[ 03 ]  PROBLEM SPACE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" y="594360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9448495" y="457200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300" dirty="0">
                <a:solidFill>
                  <a:srgbClr val="A8B3C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REDALYTICA.INTEL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6492240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78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03 / 13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438248" y="6492240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kern="0" spc="200" dirty="0">
                <a:solidFill>
                  <a:srgbClr val="5B678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REDALYTICA INTELLIGENCE  ·  MARKET INTELLIGENCE PLATFORM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9905695" y="6492240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kern="0" spc="300" dirty="0">
                <a:solidFill>
                  <a:srgbClr val="5B678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57200" y="960120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500" dirty="0">
                <a:solidFill>
                  <a:srgbClr val="00D9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THE PROBLEM WE SOLVE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57200" y="1097280"/>
            <a:ext cx="11277295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0F4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Cuatro dolores reales y cuantificados.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457200" y="2240280"/>
            <a:ext cx="11277295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8B3CC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Que las empresas españolas sufren hoy, sin herramientas accesibles para resolverlos.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2788920"/>
            <a:ext cx="5486400" cy="1508760"/>
          </a:xfrm>
          <a:prstGeom prst="rect">
            <a:avLst/>
          </a:prstGeom>
          <a:solidFill>
            <a:srgbClr val="111726"/>
          </a:solidFill>
          <a:ln w="9525">
            <a:solidFill>
              <a:srgbClr val="1E274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2971800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FF6B6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/01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554480" y="2926080"/>
            <a:ext cx="41605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400" b="1" dirty="0">
                <a:solidFill>
                  <a:srgbClr val="FF6B6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−14 / +655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4114800" y="3383280"/>
            <a:ext cx="1600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78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€/MWh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85800" y="3566160"/>
            <a:ext cx="5029200" cy="0"/>
          </a:xfrm>
          <a:prstGeom prst="line">
            <a:avLst/>
          </a:prstGeom>
          <a:noFill/>
          <a:ln w="6350">
            <a:solidFill>
              <a:srgbClr val="3A435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5800" y="3589147"/>
            <a:ext cx="5029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0F4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Price volatility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85800" y="3854323"/>
            <a:ext cx="50292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B3CC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Coeficiente de variación 110,9%. Una industria mediana puede perder hasta 1,5 M€/año por mala decisión de cobertura.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126480" y="2788920"/>
            <a:ext cx="5486400" cy="1508760"/>
          </a:xfrm>
          <a:prstGeom prst="rect">
            <a:avLst/>
          </a:prstGeom>
          <a:solidFill>
            <a:srgbClr val="111726"/>
          </a:solidFill>
          <a:ln w="9525">
            <a:solidFill>
              <a:srgbClr val="1E274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92240" y="2971800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F5C51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/02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360920" y="2880360"/>
            <a:ext cx="41605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400" b="1" dirty="0">
                <a:solidFill>
                  <a:srgbClr val="F5C51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1.300–1.800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9921240" y="3277870"/>
            <a:ext cx="1600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78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M€ losses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492240" y="3547745"/>
            <a:ext cx="5029200" cy="0"/>
          </a:xfrm>
          <a:prstGeom prst="line">
            <a:avLst/>
          </a:prstGeom>
          <a:noFill/>
          <a:ln w="6350">
            <a:solidFill>
              <a:srgbClr val="3A435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92240" y="3589147"/>
            <a:ext cx="5029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0F4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Systemic blackout risk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492240" y="3884168"/>
            <a:ext cx="50292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B3CC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Coste del apagón 2025. Ninguna herramienta permite cuantificar exposición territorial y temporal.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57200" y="4480560"/>
            <a:ext cx="5486400" cy="1508760"/>
          </a:xfrm>
          <a:prstGeom prst="rect">
            <a:avLst/>
          </a:prstGeom>
          <a:solidFill>
            <a:srgbClr val="111726"/>
          </a:solidFill>
          <a:ln w="9525">
            <a:solidFill>
              <a:srgbClr val="1E274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85800" y="4663440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00D9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/03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629410" y="4592320"/>
            <a:ext cx="41605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400" b="1" dirty="0">
                <a:solidFill>
                  <a:srgbClr val="00D9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16.000</a:t>
            </a:r>
            <a:endParaRPr lang="en-US" sz="2400" dirty="0"/>
          </a:p>
        </p:txBody>
      </p:sp>
      <p:sp>
        <p:nvSpPr>
          <p:cNvPr id="31" name="Text 29"/>
          <p:cNvSpPr/>
          <p:nvPr/>
        </p:nvSpPr>
        <p:spPr>
          <a:xfrm>
            <a:off x="4114800" y="5017770"/>
            <a:ext cx="1600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78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companies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85800" y="5245100"/>
            <a:ext cx="5029200" cy="0"/>
          </a:xfrm>
          <a:prstGeom prst="line">
            <a:avLst/>
          </a:prstGeom>
          <a:noFill/>
          <a:ln w="6350">
            <a:solidFill>
              <a:srgbClr val="3A435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0080" y="5267452"/>
            <a:ext cx="5029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0F4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CSRD compliance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685800" y="5552313"/>
            <a:ext cx="50292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B3CC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Obligadas a reportar intensidad CO₂ desde 2025. Sin herramientas para optimizar perfil temporal de consumo.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263640" y="4480560"/>
            <a:ext cx="5486400" cy="1508760"/>
          </a:xfrm>
          <a:prstGeom prst="rect">
            <a:avLst/>
          </a:prstGeom>
          <a:solidFill>
            <a:srgbClr val="111726"/>
          </a:solidFill>
          <a:ln w="9525">
            <a:solidFill>
              <a:srgbClr val="1E274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92240" y="4663440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A78BF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/04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360920" y="4530725"/>
            <a:ext cx="41605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400" b="1" dirty="0">
                <a:solidFill>
                  <a:srgbClr val="A78BF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±50–100</a:t>
            </a:r>
            <a:endParaRPr lang="en-US" sz="2400" dirty="0"/>
          </a:p>
        </p:txBody>
      </p:sp>
      <p:sp>
        <p:nvSpPr>
          <p:cNvPr id="38" name="Text 36"/>
          <p:cNvSpPr/>
          <p:nvPr/>
        </p:nvSpPr>
        <p:spPr>
          <a:xfrm>
            <a:off x="9921240" y="4914900"/>
            <a:ext cx="1600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78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M€ variance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6492240" y="5142230"/>
            <a:ext cx="5029200" cy="0"/>
          </a:xfrm>
          <a:prstGeom prst="line">
            <a:avLst/>
          </a:prstGeom>
          <a:noFill/>
          <a:ln w="6350">
            <a:solidFill>
              <a:srgbClr val="3A435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492240" y="5151882"/>
            <a:ext cx="5029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0F4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Renewable asset valuation</a:t>
            </a:r>
            <a:endParaRPr lang="en-US" sz="1500" dirty="0"/>
          </a:p>
        </p:txBody>
      </p:sp>
      <p:sp>
        <p:nvSpPr>
          <p:cNvPr id="41" name="Text 39"/>
          <p:cNvSpPr/>
          <p:nvPr/>
        </p:nvSpPr>
        <p:spPr>
          <a:xfrm>
            <a:off x="6492240" y="5481193"/>
            <a:ext cx="50292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B3CC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Desviación típica en valoración de parque eólico/solar medio si el modelo de captura de precio falla.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868680"/>
            <a:ext cx="11277295" cy="0"/>
          </a:xfrm>
          <a:prstGeom prst="line">
            <a:avLst/>
          </a:prstGeom>
          <a:noFill/>
          <a:ln w="6350">
            <a:solidFill>
              <a:srgbClr val="3A435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6355080"/>
            <a:ext cx="11277295" cy="0"/>
          </a:xfrm>
          <a:prstGeom prst="line">
            <a:avLst/>
          </a:prstGeom>
          <a:noFill/>
          <a:ln w="6350">
            <a:solidFill>
              <a:srgbClr val="3A435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502920"/>
            <a:ext cx="91440" cy="91440"/>
          </a:xfrm>
          <a:prstGeom prst="ellipse">
            <a:avLst/>
          </a:prstGeom>
          <a:solidFill>
            <a:srgbClr val="00D9FF"/>
          </a:solidFill>
        </p:spPr>
      </p:sp>
      <p:sp>
        <p:nvSpPr>
          <p:cNvPr id="5" name="Text 3"/>
          <p:cNvSpPr/>
          <p:nvPr/>
        </p:nvSpPr>
        <p:spPr>
          <a:xfrm>
            <a:off x="640080" y="41148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00D9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[ 04 ]  CORE FINDINGS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" y="594360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9448495" y="457200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300" dirty="0">
                <a:solidFill>
                  <a:srgbClr val="A8B3C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REDALYTICA.INTEL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6492240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78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04 / 13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438248" y="6492240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kern="0" spc="200" dirty="0">
                <a:solidFill>
                  <a:srgbClr val="5B678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REDALYTICA INTELLIGENCE  ·  MARKET INTELLIGENCE PLATFORM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9905695" y="6492240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kern="0" spc="300" dirty="0">
                <a:solidFill>
                  <a:srgbClr val="5B678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57200" y="960120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500" dirty="0">
                <a:solidFill>
                  <a:srgbClr val="00D9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LO QUE HEMOS DESCUBIERTO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57200" y="1097280"/>
            <a:ext cx="11277295" cy="1371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0F4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Cifras que ningún analista español</a:t>
            </a:r>
            <a:endParaRPr lang="en-US" sz="2800" dirty="0"/>
          </a:p>
          <a:p>
            <a:pPr marL="0" indent="0">
              <a:buNone/>
            </a:pPr>
            <a:r>
              <a:rPr lang="en-US" sz="2800" b="1" dirty="0">
                <a:solidFill>
                  <a:srgbClr val="F0F4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había publicado.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457200" y="2606040"/>
            <a:ext cx="11277295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8B3CC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270.544 registros oficiales · 6 años · validados frente a REE, OMIE y CNMC con &lt; 5% de desviación.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3154680"/>
            <a:ext cx="2788920" cy="1554480"/>
          </a:xfrm>
          <a:prstGeom prst="rect">
            <a:avLst/>
          </a:prstGeom>
          <a:solidFill>
            <a:srgbClr val="111726"/>
          </a:solidFill>
          <a:ln w="9525">
            <a:solidFill>
              <a:srgbClr val="1E274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3154680"/>
            <a:ext cx="36576" cy="1554480"/>
          </a:xfrm>
          <a:prstGeom prst="rect">
            <a:avLst/>
          </a:prstGeom>
          <a:solidFill>
            <a:srgbClr val="00D9FF"/>
          </a:solidFill>
        </p:spPr>
      </p:sp>
      <p:sp>
        <p:nvSpPr>
          <p:cNvPr id="16" name="Text 14"/>
          <p:cNvSpPr/>
          <p:nvPr/>
        </p:nvSpPr>
        <p:spPr>
          <a:xfrm>
            <a:off x="640080" y="3291840"/>
            <a:ext cx="10972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5B678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#01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2788920" y="3291840"/>
            <a:ext cx="2743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0D9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▲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0080" y="3566160"/>
            <a:ext cx="242316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0F4F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1,55M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640080" y="4160520"/>
            <a:ext cx="24231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D9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GWh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40080" y="4361688"/>
            <a:ext cx="24231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A8B3CC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Generación total analizada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40080" y="4526280"/>
            <a:ext cx="242316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B678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2020–2026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3383280" y="3154680"/>
            <a:ext cx="2788920" cy="1554480"/>
          </a:xfrm>
          <a:prstGeom prst="rect">
            <a:avLst/>
          </a:prstGeom>
          <a:solidFill>
            <a:srgbClr val="111726"/>
          </a:solidFill>
          <a:ln w="9525">
            <a:solidFill>
              <a:srgbClr val="1E274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383280" y="3154680"/>
            <a:ext cx="36576" cy="1554480"/>
          </a:xfrm>
          <a:prstGeom prst="rect">
            <a:avLst/>
          </a:prstGeom>
          <a:solidFill>
            <a:srgbClr val="3CB371"/>
          </a:solidFill>
        </p:spPr>
      </p:sp>
      <p:sp>
        <p:nvSpPr>
          <p:cNvPr id="24" name="Text 22"/>
          <p:cNvSpPr/>
          <p:nvPr/>
        </p:nvSpPr>
        <p:spPr>
          <a:xfrm>
            <a:off x="3566160" y="3291840"/>
            <a:ext cx="10972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5B678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#02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715000" y="3291840"/>
            <a:ext cx="2743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3CB37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▲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566160" y="3566160"/>
            <a:ext cx="242316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0F4F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49,77</a:t>
            </a:r>
            <a:endParaRPr lang="en-US" sz="3200" dirty="0"/>
          </a:p>
        </p:txBody>
      </p:sp>
      <p:sp>
        <p:nvSpPr>
          <p:cNvPr id="27" name="Text 25"/>
          <p:cNvSpPr/>
          <p:nvPr/>
        </p:nvSpPr>
        <p:spPr>
          <a:xfrm>
            <a:off x="3566160" y="4160520"/>
            <a:ext cx="24231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CB37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%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566160" y="4361688"/>
            <a:ext cx="24231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A8B3CC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Mix renovable medio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566160" y="4526280"/>
            <a:ext cx="242316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B678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Validated vs REE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6309360" y="3154680"/>
            <a:ext cx="2788920" cy="1554480"/>
          </a:xfrm>
          <a:prstGeom prst="rect">
            <a:avLst/>
          </a:prstGeom>
          <a:solidFill>
            <a:srgbClr val="111726"/>
          </a:solidFill>
          <a:ln w="9525">
            <a:solidFill>
              <a:srgbClr val="1E274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309360" y="3154680"/>
            <a:ext cx="36576" cy="1554480"/>
          </a:xfrm>
          <a:prstGeom prst="rect">
            <a:avLst/>
          </a:prstGeom>
          <a:solidFill>
            <a:srgbClr val="F5C518"/>
          </a:solidFill>
        </p:spPr>
      </p:sp>
      <p:sp>
        <p:nvSpPr>
          <p:cNvPr id="32" name="Text 30"/>
          <p:cNvSpPr/>
          <p:nvPr/>
        </p:nvSpPr>
        <p:spPr>
          <a:xfrm>
            <a:off x="6492240" y="3291840"/>
            <a:ext cx="10972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5B678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#03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8641080" y="3291840"/>
            <a:ext cx="2743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F5C51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▲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492240" y="3566160"/>
            <a:ext cx="242316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0F4F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4.034</a:t>
            </a:r>
            <a:endParaRPr lang="en-US" sz="3200" dirty="0"/>
          </a:p>
        </p:txBody>
      </p:sp>
      <p:sp>
        <p:nvSpPr>
          <p:cNvPr id="35" name="Text 33"/>
          <p:cNvSpPr/>
          <p:nvPr/>
        </p:nvSpPr>
        <p:spPr>
          <a:xfrm>
            <a:off x="6492240" y="4160520"/>
            <a:ext cx="24231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5C51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horas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492240" y="4361688"/>
            <a:ext cx="24231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A8B3CC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Precio negativo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492240" y="4526280"/>
            <a:ext cx="242316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B678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En 198 días distintos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9235440" y="3154680"/>
            <a:ext cx="2788920" cy="1554480"/>
          </a:xfrm>
          <a:prstGeom prst="rect">
            <a:avLst/>
          </a:prstGeom>
          <a:solidFill>
            <a:srgbClr val="111726"/>
          </a:solidFill>
          <a:ln w="9525">
            <a:solidFill>
              <a:srgbClr val="1E274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9235440" y="3154680"/>
            <a:ext cx="36576" cy="1554480"/>
          </a:xfrm>
          <a:prstGeom prst="rect">
            <a:avLst/>
          </a:prstGeom>
          <a:solidFill>
            <a:srgbClr val="FF6B6B"/>
          </a:solidFill>
        </p:spPr>
      </p:sp>
      <p:sp>
        <p:nvSpPr>
          <p:cNvPr id="40" name="Text 38"/>
          <p:cNvSpPr/>
          <p:nvPr/>
        </p:nvSpPr>
        <p:spPr>
          <a:xfrm>
            <a:off x="9418320" y="3291840"/>
            <a:ext cx="10972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5B678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#04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11567160" y="3291840"/>
            <a:ext cx="2743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FF6B6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▲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9418320" y="3566160"/>
            <a:ext cx="242316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0F4F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110,9</a:t>
            </a:r>
            <a:endParaRPr lang="en-US" sz="3200" dirty="0"/>
          </a:p>
        </p:txBody>
      </p:sp>
      <p:sp>
        <p:nvSpPr>
          <p:cNvPr id="43" name="Text 41"/>
          <p:cNvSpPr/>
          <p:nvPr/>
        </p:nvSpPr>
        <p:spPr>
          <a:xfrm>
            <a:off x="9418320" y="4160520"/>
            <a:ext cx="24231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6B6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%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9418320" y="4361688"/>
            <a:ext cx="24231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A8B3CC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Coef. variación precio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9418320" y="4526280"/>
            <a:ext cx="242316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B678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Volatilidad extrema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457200" y="4846320"/>
            <a:ext cx="2788920" cy="1554480"/>
          </a:xfrm>
          <a:prstGeom prst="rect">
            <a:avLst/>
          </a:prstGeom>
          <a:solidFill>
            <a:srgbClr val="111726"/>
          </a:solidFill>
          <a:ln w="9525">
            <a:solidFill>
              <a:srgbClr val="1E274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57200" y="4846320"/>
            <a:ext cx="36576" cy="1554480"/>
          </a:xfrm>
          <a:prstGeom prst="rect">
            <a:avLst/>
          </a:prstGeom>
          <a:solidFill>
            <a:srgbClr val="A78BFA"/>
          </a:solidFill>
        </p:spPr>
      </p:sp>
      <p:sp>
        <p:nvSpPr>
          <p:cNvPr id="48" name="Text 46"/>
          <p:cNvSpPr/>
          <p:nvPr/>
        </p:nvSpPr>
        <p:spPr>
          <a:xfrm>
            <a:off x="640080" y="4983480"/>
            <a:ext cx="10972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5B678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#05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2788920" y="4983480"/>
            <a:ext cx="2743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A78BF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▼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640080" y="5257800"/>
            <a:ext cx="242316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0F4F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117,71</a:t>
            </a:r>
            <a:endParaRPr lang="en-US" sz="3200" dirty="0"/>
          </a:p>
        </p:txBody>
      </p:sp>
      <p:sp>
        <p:nvSpPr>
          <p:cNvPr id="51" name="Text 49"/>
          <p:cNvSpPr/>
          <p:nvPr/>
        </p:nvSpPr>
        <p:spPr>
          <a:xfrm>
            <a:off x="640080" y="5852160"/>
            <a:ext cx="24231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78BF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gCO₂/kWh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640080" y="6053328"/>
            <a:ext cx="24231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A8B3CC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Intensidad de carbono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640080" y="6217920"/>
            <a:ext cx="242316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B678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Tendencia descendente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3383280" y="4846320"/>
            <a:ext cx="2788920" cy="1554480"/>
          </a:xfrm>
          <a:prstGeom prst="rect">
            <a:avLst/>
          </a:prstGeom>
          <a:solidFill>
            <a:srgbClr val="111726"/>
          </a:solidFill>
          <a:ln w="9525">
            <a:solidFill>
              <a:srgbClr val="1E2740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3383280" y="4846320"/>
            <a:ext cx="36576" cy="1554480"/>
          </a:xfrm>
          <a:prstGeom prst="rect">
            <a:avLst/>
          </a:prstGeom>
          <a:solidFill>
            <a:srgbClr val="00D9FF"/>
          </a:solidFill>
        </p:spPr>
      </p:sp>
      <p:sp>
        <p:nvSpPr>
          <p:cNvPr id="56" name="Text 54"/>
          <p:cNvSpPr/>
          <p:nvPr/>
        </p:nvSpPr>
        <p:spPr>
          <a:xfrm>
            <a:off x="3566160" y="4983480"/>
            <a:ext cx="10972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5B678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#06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5715000" y="4983480"/>
            <a:ext cx="2743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0D9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▲</a:t>
            </a:r>
            <a:endParaRPr lang="en-US" sz="1200" dirty="0"/>
          </a:p>
        </p:txBody>
      </p:sp>
      <p:sp>
        <p:nvSpPr>
          <p:cNvPr id="58" name="Text 56"/>
          <p:cNvSpPr/>
          <p:nvPr/>
        </p:nvSpPr>
        <p:spPr>
          <a:xfrm>
            <a:off x="3566160" y="5257800"/>
            <a:ext cx="242316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0F4F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140,5</a:t>
            </a:r>
            <a:endParaRPr lang="en-US" sz="3200" dirty="0"/>
          </a:p>
        </p:txBody>
      </p:sp>
      <p:sp>
        <p:nvSpPr>
          <p:cNvPr id="59" name="Text 57"/>
          <p:cNvSpPr/>
          <p:nvPr/>
        </p:nvSpPr>
        <p:spPr>
          <a:xfrm>
            <a:off x="3566160" y="5852160"/>
            <a:ext cx="24231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D9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GW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3566160" y="6053328"/>
            <a:ext cx="24231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A8B3CC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Potencia instalada</a:t>
            </a:r>
            <a:endParaRPr lang="en-US" sz="1000" dirty="0"/>
          </a:p>
        </p:txBody>
      </p:sp>
      <p:sp>
        <p:nvSpPr>
          <p:cNvPr id="61" name="Text 59"/>
          <p:cNvSpPr/>
          <p:nvPr/>
        </p:nvSpPr>
        <p:spPr>
          <a:xfrm>
            <a:off x="3566160" y="6217920"/>
            <a:ext cx="242316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B678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Auditada y corregida</a:t>
            </a:r>
            <a:endParaRPr lang="en-US" sz="800" dirty="0"/>
          </a:p>
        </p:txBody>
      </p:sp>
      <p:sp>
        <p:nvSpPr>
          <p:cNvPr id="62" name="Shape 60"/>
          <p:cNvSpPr/>
          <p:nvPr/>
        </p:nvSpPr>
        <p:spPr>
          <a:xfrm>
            <a:off x="6309360" y="4846320"/>
            <a:ext cx="2788920" cy="1554480"/>
          </a:xfrm>
          <a:prstGeom prst="rect">
            <a:avLst/>
          </a:prstGeom>
          <a:solidFill>
            <a:srgbClr val="111726"/>
          </a:solidFill>
          <a:ln w="9525">
            <a:solidFill>
              <a:srgbClr val="1E2740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6309360" y="4846320"/>
            <a:ext cx="36576" cy="1554480"/>
          </a:xfrm>
          <a:prstGeom prst="rect">
            <a:avLst/>
          </a:prstGeom>
          <a:solidFill>
            <a:srgbClr val="00D9FF"/>
          </a:solidFill>
        </p:spPr>
      </p:sp>
      <p:sp>
        <p:nvSpPr>
          <p:cNvPr id="64" name="Text 62"/>
          <p:cNvSpPr/>
          <p:nvPr/>
        </p:nvSpPr>
        <p:spPr>
          <a:xfrm>
            <a:off x="6492240" y="4983480"/>
            <a:ext cx="10972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5B678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#07</a:t>
            </a:r>
            <a:endParaRPr lang="en-US" sz="800" dirty="0"/>
          </a:p>
        </p:txBody>
      </p:sp>
      <p:sp>
        <p:nvSpPr>
          <p:cNvPr id="65" name="Text 63"/>
          <p:cNvSpPr/>
          <p:nvPr/>
        </p:nvSpPr>
        <p:spPr>
          <a:xfrm>
            <a:off x="8641080" y="4983480"/>
            <a:ext cx="2743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0D9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●</a:t>
            </a:r>
            <a:endParaRPr lang="en-US" sz="1200" dirty="0"/>
          </a:p>
        </p:txBody>
      </p:sp>
      <p:sp>
        <p:nvSpPr>
          <p:cNvPr id="66" name="Text 64"/>
          <p:cNvSpPr/>
          <p:nvPr/>
        </p:nvSpPr>
        <p:spPr>
          <a:xfrm>
            <a:off x="6492240" y="5257800"/>
            <a:ext cx="242316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0F4F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15,68</a:t>
            </a:r>
            <a:endParaRPr lang="en-US" sz="3200" dirty="0"/>
          </a:p>
        </p:txBody>
      </p:sp>
      <p:sp>
        <p:nvSpPr>
          <p:cNvPr id="67" name="Text 65"/>
          <p:cNvSpPr/>
          <p:nvPr/>
        </p:nvSpPr>
        <p:spPr>
          <a:xfrm>
            <a:off x="6492240" y="5852160"/>
            <a:ext cx="24231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D9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%</a:t>
            </a:r>
            <a:endParaRPr lang="en-US" sz="900" dirty="0"/>
          </a:p>
        </p:txBody>
      </p:sp>
      <p:sp>
        <p:nvSpPr>
          <p:cNvPr id="68" name="Text 66"/>
          <p:cNvSpPr/>
          <p:nvPr/>
        </p:nvSpPr>
        <p:spPr>
          <a:xfrm>
            <a:off x="6492240" y="6053328"/>
            <a:ext cx="24231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A8B3CC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Factor de carga real</a:t>
            </a:r>
            <a:endParaRPr lang="en-US" sz="1000" dirty="0"/>
          </a:p>
        </p:txBody>
      </p:sp>
      <p:sp>
        <p:nvSpPr>
          <p:cNvPr id="69" name="Text 67"/>
          <p:cNvSpPr/>
          <p:nvPr/>
        </p:nvSpPr>
        <p:spPr>
          <a:xfrm>
            <a:off x="6492240" y="6217920"/>
            <a:ext cx="242316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B678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Sistema peninsular</a:t>
            </a:r>
            <a:endParaRPr lang="en-US" sz="800" dirty="0"/>
          </a:p>
        </p:txBody>
      </p:sp>
      <p:sp>
        <p:nvSpPr>
          <p:cNvPr id="70" name="Shape 68"/>
          <p:cNvSpPr/>
          <p:nvPr/>
        </p:nvSpPr>
        <p:spPr>
          <a:xfrm>
            <a:off x="9235440" y="4846320"/>
            <a:ext cx="2788920" cy="1554480"/>
          </a:xfrm>
          <a:prstGeom prst="rect">
            <a:avLst/>
          </a:prstGeom>
          <a:solidFill>
            <a:srgbClr val="111726"/>
          </a:solidFill>
          <a:ln w="9525">
            <a:solidFill>
              <a:srgbClr val="1E2740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9235440" y="4846320"/>
            <a:ext cx="36576" cy="1554480"/>
          </a:xfrm>
          <a:prstGeom prst="rect">
            <a:avLst/>
          </a:prstGeom>
          <a:solidFill>
            <a:srgbClr val="3CB371"/>
          </a:solidFill>
        </p:spPr>
      </p:sp>
      <p:sp>
        <p:nvSpPr>
          <p:cNvPr id="72" name="Text 70"/>
          <p:cNvSpPr/>
          <p:nvPr/>
        </p:nvSpPr>
        <p:spPr>
          <a:xfrm>
            <a:off x="9418320" y="4983480"/>
            <a:ext cx="10972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5B678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#08</a:t>
            </a:r>
            <a:endParaRPr lang="en-US" sz="800" dirty="0"/>
          </a:p>
        </p:txBody>
      </p:sp>
      <p:sp>
        <p:nvSpPr>
          <p:cNvPr id="73" name="Text 71"/>
          <p:cNvSpPr/>
          <p:nvPr/>
        </p:nvSpPr>
        <p:spPr>
          <a:xfrm>
            <a:off x="11567160" y="4983480"/>
            <a:ext cx="2743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3CB37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●</a:t>
            </a:r>
            <a:endParaRPr lang="en-US" sz="1200" dirty="0"/>
          </a:p>
        </p:txBody>
      </p:sp>
      <p:sp>
        <p:nvSpPr>
          <p:cNvPr id="74" name="Text 72"/>
          <p:cNvSpPr/>
          <p:nvPr/>
        </p:nvSpPr>
        <p:spPr>
          <a:xfrm>
            <a:off x="9418320" y="5257800"/>
            <a:ext cx="242316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0F4F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65</a:t>
            </a:r>
            <a:endParaRPr lang="en-US" sz="3200" dirty="0"/>
          </a:p>
        </p:txBody>
      </p:sp>
      <p:sp>
        <p:nvSpPr>
          <p:cNvPr id="75" name="Text 73"/>
          <p:cNvSpPr/>
          <p:nvPr/>
        </p:nvSpPr>
        <p:spPr>
          <a:xfrm>
            <a:off x="9418320" y="5852160"/>
            <a:ext cx="24231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CB37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DAX</a:t>
            </a:r>
            <a:endParaRPr lang="en-US" sz="900" dirty="0"/>
          </a:p>
        </p:txBody>
      </p:sp>
      <p:sp>
        <p:nvSpPr>
          <p:cNvPr id="76" name="Text 74"/>
          <p:cNvSpPr/>
          <p:nvPr/>
        </p:nvSpPr>
        <p:spPr>
          <a:xfrm>
            <a:off x="9418320" y="6053328"/>
            <a:ext cx="24231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A8B3CC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Medidas auditadas</a:t>
            </a:r>
            <a:endParaRPr lang="en-US" sz="1000" dirty="0"/>
          </a:p>
        </p:txBody>
      </p:sp>
      <p:sp>
        <p:nvSpPr>
          <p:cNvPr id="77" name="Text 75"/>
          <p:cNvSpPr/>
          <p:nvPr/>
        </p:nvSpPr>
        <p:spPr>
          <a:xfrm>
            <a:off x="9418320" y="6217920"/>
            <a:ext cx="242316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B678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2 ciclos metodológicos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868680"/>
            <a:ext cx="11277295" cy="0"/>
          </a:xfrm>
          <a:prstGeom prst="line">
            <a:avLst/>
          </a:prstGeom>
          <a:noFill/>
          <a:ln w="6350">
            <a:solidFill>
              <a:srgbClr val="3A435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6355080"/>
            <a:ext cx="11277295" cy="0"/>
          </a:xfrm>
          <a:prstGeom prst="line">
            <a:avLst/>
          </a:prstGeom>
          <a:noFill/>
          <a:ln w="6350">
            <a:solidFill>
              <a:srgbClr val="3A435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502920"/>
            <a:ext cx="91440" cy="91440"/>
          </a:xfrm>
          <a:prstGeom prst="ellipse">
            <a:avLst/>
          </a:prstGeom>
          <a:solidFill>
            <a:srgbClr val="00D9FF"/>
          </a:solidFill>
        </p:spPr>
      </p:sp>
      <p:sp>
        <p:nvSpPr>
          <p:cNvPr id="5" name="Text 3"/>
          <p:cNvSpPr/>
          <p:nvPr/>
        </p:nvSpPr>
        <p:spPr>
          <a:xfrm>
            <a:off x="640080" y="41148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00D9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[ 05 ]  DIFFERENTIATED ASSET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" y="594360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9448495" y="457200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300" dirty="0">
                <a:solidFill>
                  <a:srgbClr val="A8B3C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REDALYTICA.INTEL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6492240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78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05 / 13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438248" y="6492240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kern="0" spc="200" dirty="0">
                <a:solidFill>
                  <a:srgbClr val="5B678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REDALYTICA INTELLIGENCE  ·  MARKET INTELLIGENCE PLATFORM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9905695" y="6492240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kern="0" spc="300" dirty="0">
                <a:solidFill>
                  <a:srgbClr val="5B678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57200" y="960120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500" dirty="0">
                <a:solidFill>
                  <a:srgbClr val="F5C51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ACTIVO DIFERENCIADOR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57200" y="1097280"/>
            <a:ext cx="11277295" cy="1371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0F4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Somos los únicos con la anatomía</a:t>
            </a:r>
            <a:endParaRPr lang="en-US" sz="2800" dirty="0"/>
          </a:p>
          <a:p>
            <a:pPr marL="0" indent="0">
              <a:buNone/>
            </a:pPr>
            <a:r>
              <a:rPr lang="en-US" sz="2800" b="1" dirty="0">
                <a:solidFill>
                  <a:srgbClr val="F0F4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minuto a minuto.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457200" y="2606040"/>
            <a:ext cx="11277295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8B3CC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Análisis técnico del apagón del 28-abril-2025 reconstruido desde datos oficiales ESIOS.</a:t>
            </a:r>
            <a:endParaRPr lang="en-US" sz="1300" dirty="0"/>
          </a:p>
        </p:txBody>
      </p:sp>
      <p:graphicFrame>
        <p:nvGraphicFramePr>
          <p:cNvPr id="14" name="Chart 0"/>
          <p:cNvGraphicFramePr/>
          <p:nvPr/>
        </p:nvGraphicFramePr>
        <p:xfrm>
          <a:off x="457200" y="3017520"/>
          <a:ext cx="685800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15" name="Text 12"/>
          <p:cNvSpPr/>
          <p:nvPr/>
        </p:nvSpPr>
        <p:spPr>
          <a:xfrm>
            <a:off x="3429000" y="612648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6B6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T0 · 12:33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7589520" y="3017520"/>
            <a:ext cx="4114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5B678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FORENSIC READOUT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7589520" y="3337560"/>
            <a:ext cx="4160520" cy="640080"/>
          </a:xfrm>
          <a:prstGeom prst="rect">
            <a:avLst/>
          </a:prstGeom>
          <a:solidFill>
            <a:srgbClr val="111726"/>
          </a:solidFill>
          <a:ln w="9525">
            <a:solidFill>
              <a:srgbClr val="1E2740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7589520" y="3337560"/>
            <a:ext cx="36576" cy="640080"/>
          </a:xfrm>
          <a:prstGeom prst="rect">
            <a:avLst/>
          </a:prstGeom>
          <a:solidFill>
            <a:srgbClr val="FF6B6B"/>
          </a:solidFill>
        </p:spPr>
      </p:sp>
      <p:sp>
        <p:nvSpPr>
          <p:cNvPr id="19" name="Text 16"/>
          <p:cNvSpPr/>
          <p:nvPr/>
        </p:nvSpPr>
        <p:spPr>
          <a:xfrm>
            <a:off x="7726680" y="3392424"/>
            <a:ext cx="169164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200" dirty="0">
                <a:solidFill>
                  <a:srgbClr val="5B678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EVENT TIME</a:t>
            </a:r>
            <a:endParaRPr lang="en-US" sz="700" dirty="0"/>
          </a:p>
        </p:txBody>
      </p:sp>
      <p:sp>
        <p:nvSpPr>
          <p:cNvPr id="20" name="Text 17"/>
          <p:cNvSpPr/>
          <p:nvPr/>
        </p:nvSpPr>
        <p:spPr>
          <a:xfrm>
            <a:off x="7726680" y="3611880"/>
            <a:ext cx="1691640" cy="3474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F6B6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12:33:00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9509760" y="3474720"/>
            <a:ext cx="219456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8B3CC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Cero energético exacto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7589520" y="4050792"/>
            <a:ext cx="4160520" cy="640080"/>
          </a:xfrm>
          <a:prstGeom prst="rect">
            <a:avLst/>
          </a:prstGeom>
          <a:solidFill>
            <a:srgbClr val="111726"/>
          </a:solidFill>
          <a:ln w="9525">
            <a:solidFill>
              <a:srgbClr val="1E2740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7589520" y="4050792"/>
            <a:ext cx="36576" cy="640080"/>
          </a:xfrm>
          <a:prstGeom prst="rect">
            <a:avLst/>
          </a:prstGeom>
          <a:solidFill>
            <a:srgbClr val="FF6B6B"/>
          </a:solidFill>
        </p:spPr>
      </p:sp>
      <p:sp>
        <p:nvSpPr>
          <p:cNvPr id="24" name="Text 21"/>
          <p:cNvSpPr/>
          <p:nvPr/>
        </p:nvSpPr>
        <p:spPr>
          <a:xfrm>
            <a:off x="7726680" y="4105656"/>
            <a:ext cx="169164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200" dirty="0">
                <a:solidFill>
                  <a:srgbClr val="5B678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WIND DROP</a:t>
            </a:r>
            <a:endParaRPr lang="en-US" sz="700" dirty="0"/>
          </a:p>
        </p:txBody>
      </p:sp>
      <p:sp>
        <p:nvSpPr>
          <p:cNvPr id="25" name="Text 22"/>
          <p:cNvSpPr/>
          <p:nvPr/>
        </p:nvSpPr>
        <p:spPr>
          <a:xfrm>
            <a:off x="7726680" y="4325112"/>
            <a:ext cx="1691640" cy="3474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F6B6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−92,9%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9509760" y="4187952"/>
            <a:ext cx="219456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8B3CC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Generación eólica medida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7589520" y="4764024"/>
            <a:ext cx="4160520" cy="640080"/>
          </a:xfrm>
          <a:prstGeom prst="rect">
            <a:avLst/>
          </a:prstGeom>
          <a:solidFill>
            <a:srgbClr val="111726"/>
          </a:solidFill>
          <a:ln w="9525">
            <a:solidFill>
              <a:srgbClr val="1E2740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7589520" y="4764024"/>
            <a:ext cx="36576" cy="640080"/>
          </a:xfrm>
          <a:prstGeom prst="rect">
            <a:avLst/>
          </a:prstGeom>
          <a:solidFill>
            <a:srgbClr val="F5C518"/>
          </a:solidFill>
        </p:spPr>
      </p:sp>
      <p:sp>
        <p:nvSpPr>
          <p:cNvPr id="29" name="Text 26"/>
          <p:cNvSpPr/>
          <p:nvPr/>
        </p:nvSpPr>
        <p:spPr>
          <a:xfrm>
            <a:off x="7726680" y="4818888"/>
            <a:ext cx="169164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200" dirty="0">
                <a:solidFill>
                  <a:srgbClr val="5B678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SOLAR PV DROP</a:t>
            </a:r>
            <a:endParaRPr lang="en-US" sz="700" dirty="0"/>
          </a:p>
        </p:txBody>
      </p:sp>
      <p:sp>
        <p:nvSpPr>
          <p:cNvPr id="30" name="Text 27"/>
          <p:cNvSpPr/>
          <p:nvPr/>
        </p:nvSpPr>
        <p:spPr>
          <a:xfrm>
            <a:off x="7726680" y="5038344"/>
            <a:ext cx="1691640" cy="3474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5C51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−75,4%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9509760" y="4901184"/>
            <a:ext cx="219456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8B3CC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Generación solar fotovoltaica</a:t>
            </a:r>
            <a:endParaRPr lang="en-US" sz="900" dirty="0"/>
          </a:p>
        </p:txBody>
      </p:sp>
      <p:sp>
        <p:nvSpPr>
          <p:cNvPr id="32" name="Shape 29"/>
          <p:cNvSpPr/>
          <p:nvPr/>
        </p:nvSpPr>
        <p:spPr>
          <a:xfrm>
            <a:off x="7589520" y="5477256"/>
            <a:ext cx="4160520" cy="640080"/>
          </a:xfrm>
          <a:prstGeom prst="rect">
            <a:avLst/>
          </a:prstGeom>
          <a:solidFill>
            <a:srgbClr val="111726"/>
          </a:solidFill>
          <a:ln w="9525">
            <a:solidFill>
              <a:srgbClr val="1E2740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7589520" y="5477256"/>
            <a:ext cx="36576" cy="640080"/>
          </a:xfrm>
          <a:prstGeom prst="rect">
            <a:avLst/>
          </a:prstGeom>
          <a:solidFill>
            <a:srgbClr val="00D9FF"/>
          </a:solidFill>
        </p:spPr>
      </p:sp>
      <p:sp>
        <p:nvSpPr>
          <p:cNvPr id="34" name="Text 31"/>
          <p:cNvSpPr/>
          <p:nvPr/>
        </p:nvSpPr>
        <p:spPr>
          <a:xfrm>
            <a:off x="7726680" y="5532120"/>
            <a:ext cx="169164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200" dirty="0">
                <a:solidFill>
                  <a:srgbClr val="5B678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RECOVERY TIME</a:t>
            </a:r>
            <a:endParaRPr lang="en-US" sz="700" dirty="0"/>
          </a:p>
        </p:txBody>
      </p:sp>
      <p:sp>
        <p:nvSpPr>
          <p:cNvPr id="35" name="Text 32"/>
          <p:cNvSpPr/>
          <p:nvPr/>
        </p:nvSpPr>
        <p:spPr>
          <a:xfrm>
            <a:off x="7726680" y="5751576"/>
            <a:ext cx="1691640" cy="3474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0D9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8–10 h</a:t>
            </a:r>
            <a:endParaRPr lang="en-US" sz="1600" dirty="0"/>
          </a:p>
        </p:txBody>
      </p:sp>
      <p:sp>
        <p:nvSpPr>
          <p:cNvPr id="36" name="Text 33"/>
          <p:cNvSpPr/>
          <p:nvPr/>
        </p:nvSpPr>
        <p:spPr>
          <a:xfrm>
            <a:off x="9509760" y="5614416"/>
            <a:ext cx="219456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8B3CC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Hasta normalización completa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868680"/>
            <a:ext cx="11277295" cy="0"/>
          </a:xfrm>
          <a:prstGeom prst="line">
            <a:avLst/>
          </a:prstGeom>
          <a:noFill/>
          <a:ln w="6350">
            <a:solidFill>
              <a:srgbClr val="3A435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6795770"/>
            <a:ext cx="11277295" cy="0"/>
          </a:xfrm>
          <a:prstGeom prst="line">
            <a:avLst/>
          </a:prstGeom>
          <a:noFill/>
          <a:ln w="6350">
            <a:solidFill>
              <a:srgbClr val="3A435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502920"/>
            <a:ext cx="91440" cy="91440"/>
          </a:xfrm>
          <a:prstGeom prst="ellipse">
            <a:avLst/>
          </a:prstGeom>
          <a:solidFill>
            <a:srgbClr val="00D9FF"/>
          </a:solidFill>
        </p:spPr>
      </p:sp>
      <p:sp>
        <p:nvSpPr>
          <p:cNvPr id="5" name="Text 3"/>
          <p:cNvSpPr/>
          <p:nvPr/>
        </p:nvSpPr>
        <p:spPr>
          <a:xfrm>
            <a:off x="640080" y="41148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00D9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[ 06 ]  MARKET SIZING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" y="594360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9448495" y="457200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300" dirty="0">
                <a:solidFill>
                  <a:srgbClr val="A8B3C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REDALYTICA.INTEL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6492240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78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06 / 13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438248" y="6492240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kern="0" spc="200" dirty="0">
                <a:solidFill>
                  <a:srgbClr val="5B678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REDALYTICA INTELLIGENCE  ·  MARKET INTELLIGENCE PLATFORM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9905695" y="6492240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kern="0" spc="300" dirty="0">
                <a:solidFill>
                  <a:srgbClr val="5B678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57200" y="960120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500" dirty="0">
                <a:solidFill>
                  <a:srgbClr val="00D9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LA OPORTUNIDAD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57200" y="1097280"/>
            <a:ext cx="11277295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0F4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 mercado escasamente atendido.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457200" y="2240280"/>
            <a:ext cx="11277295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8B3CC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Aurora Energy Research y Wood Mackenzie cobran 60–150 k€/año. Los datos públicos exigen ingenieros dedicados. La PYME industrial no tiene producto adecuado.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3108960"/>
            <a:ext cx="3703320" cy="3108960"/>
          </a:xfrm>
          <a:prstGeom prst="rect">
            <a:avLst/>
          </a:prstGeom>
          <a:solidFill>
            <a:srgbClr val="111726"/>
          </a:solidFill>
          <a:ln w="9525">
            <a:solidFill>
              <a:srgbClr val="1E274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3108960"/>
            <a:ext cx="3703320" cy="45720"/>
          </a:xfrm>
          <a:prstGeom prst="rect">
            <a:avLst/>
          </a:prstGeom>
          <a:solidFill>
            <a:srgbClr val="A8B3CC"/>
          </a:solidFill>
        </p:spPr>
      </p:sp>
      <p:sp>
        <p:nvSpPr>
          <p:cNvPr id="16" name="Text 14"/>
          <p:cNvSpPr/>
          <p:nvPr/>
        </p:nvSpPr>
        <p:spPr>
          <a:xfrm>
            <a:off x="731520" y="3337560"/>
            <a:ext cx="31546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kern="0" spc="600" dirty="0">
                <a:solidFill>
                  <a:srgbClr val="A8B3C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TAM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731520" y="3794760"/>
            <a:ext cx="31546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783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Total Addressable Market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31520" y="4114800"/>
            <a:ext cx="3154680" cy="0"/>
          </a:xfrm>
          <a:prstGeom prst="line">
            <a:avLst/>
          </a:prstGeom>
          <a:noFill/>
          <a:ln w="6350">
            <a:solidFill>
              <a:srgbClr val="3A435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1520" y="4251960"/>
            <a:ext cx="315468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0F4F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30.000</a:t>
            </a:r>
            <a:endParaRPr lang="en-US" sz="4200" dirty="0"/>
          </a:p>
        </p:txBody>
      </p:sp>
      <p:sp>
        <p:nvSpPr>
          <p:cNvPr id="20" name="Text 18"/>
          <p:cNvSpPr/>
          <p:nvPr/>
        </p:nvSpPr>
        <p:spPr>
          <a:xfrm>
            <a:off x="731520" y="5029200"/>
            <a:ext cx="31546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B3C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M€ / año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31520" y="5349240"/>
            <a:ext cx="3154680" cy="45720"/>
          </a:xfrm>
          <a:prstGeom prst="rect">
            <a:avLst/>
          </a:prstGeom>
          <a:solidFill>
            <a:srgbClr val="1E2740"/>
          </a:solidFill>
        </p:spPr>
      </p:sp>
      <p:sp>
        <p:nvSpPr>
          <p:cNvPr id="22" name="Shape 20"/>
          <p:cNvSpPr/>
          <p:nvPr/>
        </p:nvSpPr>
        <p:spPr>
          <a:xfrm>
            <a:off x="731520" y="5349240"/>
            <a:ext cx="3154680" cy="45720"/>
          </a:xfrm>
          <a:prstGeom prst="rect">
            <a:avLst/>
          </a:prstGeom>
          <a:solidFill>
            <a:srgbClr val="A8B3CC"/>
          </a:solidFill>
        </p:spPr>
      </p:sp>
      <p:sp>
        <p:nvSpPr>
          <p:cNvPr id="23" name="Text 21"/>
          <p:cNvSpPr/>
          <p:nvPr/>
        </p:nvSpPr>
        <p:spPr>
          <a:xfrm>
            <a:off x="731520" y="5486400"/>
            <a:ext cx="31546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B3CC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Mercado eléctrico español facturado total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31520" y="5943600"/>
            <a:ext cx="31546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5B678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CNMC 2024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4389120" y="3108960"/>
            <a:ext cx="3703320" cy="3108960"/>
          </a:xfrm>
          <a:prstGeom prst="rect">
            <a:avLst/>
          </a:prstGeom>
          <a:solidFill>
            <a:srgbClr val="111726"/>
          </a:solidFill>
          <a:ln w="9525">
            <a:solidFill>
              <a:srgbClr val="1E274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389120" y="3108960"/>
            <a:ext cx="3703320" cy="45720"/>
          </a:xfrm>
          <a:prstGeom prst="rect">
            <a:avLst/>
          </a:prstGeom>
          <a:solidFill>
            <a:srgbClr val="00D9FF"/>
          </a:solidFill>
        </p:spPr>
      </p:sp>
      <p:sp>
        <p:nvSpPr>
          <p:cNvPr id="27" name="Text 25"/>
          <p:cNvSpPr/>
          <p:nvPr/>
        </p:nvSpPr>
        <p:spPr>
          <a:xfrm>
            <a:off x="4663440" y="3337560"/>
            <a:ext cx="31546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kern="0" spc="600" dirty="0">
                <a:solidFill>
                  <a:srgbClr val="00D9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SAM</a:t>
            </a:r>
            <a:endParaRPr lang="en-US" sz="2600" dirty="0"/>
          </a:p>
        </p:txBody>
      </p:sp>
      <p:sp>
        <p:nvSpPr>
          <p:cNvPr id="28" name="Text 26"/>
          <p:cNvSpPr/>
          <p:nvPr/>
        </p:nvSpPr>
        <p:spPr>
          <a:xfrm>
            <a:off x="4663440" y="3794760"/>
            <a:ext cx="31546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783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Serviceable Available Market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663440" y="4114800"/>
            <a:ext cx="3154680" cy="0"/>
          </a:xfrm>
          <a:prstGeom prst="line">
            <a:avLst/>
          </a:prstGeom>
          <a:noFill/>
          <a:ln w="6350">
            <a:solidFill>
              <a:srgbClr val="3A435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663440" y="4251960"/>
            <a:ext cx="315468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0F4F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80–120</a:t>
            </a:r>
            <a:endParaRPr lang="en-US" sz="4200" dirty="0"/>
          </a:p>
        </p:txBody>
      </p:sp>
      <p:sp>
        <p:nvSpPr>
          <p:cNvPr id="31" name="Text 29"/>
          <p:cNvSpPr/>
          <p:nvPr/>
        </p:nvSpPr>
        <p:spPr>
          <a:xfrm>
            <a:off x="4663440" y="5029200"/>
            <a:ext cx="31546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D9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M€ / año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663440" y="5349240"/>
            <a:ext cx="3154680" cy="45720"/>
          </a:xfrm>
          <a:prstGeom prst="rect">
            <a:avLst/>
          </a:prstGeom>
          <a:solidFill>
            <a:srgbClr val="1E2740"/>
          </a:solidFill>
        </p:spPr>
      </p:sp>
      <p:sp>
        <p:nvSpPr>
          <p:cNvPr id="33" name="Shape 31"/>
          <p:cNvSpPr/>
          <p:nvPr/>
        </p:nvSpPr>
        <p:spPr>
          <a:xfrm>
            <a:off x="4663440" y="5349240"/>
            <a:ext cx="1735074" cy="45720"/>
          </a:xfrm>
          <a:prstGeom prst="rect">
            <a:avLst/>
          </a:prstGeom>
          <a:solidFill>
            <a:srgbClr val="00D9FF"/>
          </a:solidFill>
        </p:spPr>
      </p:sp>
      <p:sp>
        <p:nvSpPr>
          <p:cNvPr id="34" name="Text 32"/>
          <p:cNvSpPr/>
          <p:nvPr/>
        </p:nvSpPr>
        <p:spPr>
          <a:xfrm>
            <a:off x="4663440" y="5486400"/>
            <a:ext cx="31546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B3CC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Información, consultoría y analítica energética para empresas no eléctricas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663440" y="5943600"/>
            <a:ext cx="31546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5B678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Estimación propia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8321040" y="3108960"/>
            <a:ext cx="3703320" cy="3108960"/>
          </a:xfrm>
          <a:prstGeom prst="rect">
            <a:avLst/>
          </a:prstGeom>
          <a:solidFill>
            <a:srgbClr val="111726"/>
          </a:solidFill>
          <a:ln w="9525">
            <a:solidFill>
              <a:srgbClr val="1E274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321040" y="3108960"/>
            <a:ext cx="3703320" cy="45720"/>
          </a:xfrm>
          <a:prstGeom prst="rect">
            <a:avLst/>
          </a:prstGeom>
          <a:solidFill>
            <a:srgbClr val="3CB371"/>
          </a:solidFill>
        </p:spPr>
      </p:sp>
      <p:sp>
        <p:nvSpPr>
          <p:cNvPr id="38" name="Text 36"/>
          <p:cNvSpPr/>
          <p:nvPr/>
        </p:nvSpPr>
        <p:spPr>
          <a:xfrm>
            <a:off x="8595360" y="3337560"/>
            <a:ext cx="31546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kern="0" spc="600" dirty="0">
                <a:solidFill>
                  <a:srgbClr val="3CB37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SOM</a:t>
            </a:r>
            <a:endParaRPr lang="en-US" sz="2600" dirty="0"/>
          </a:p>
        </p:txBody>
      </p:sp>
      <p:sp>
        <p:nvSpPr>
          <p:cNvPr id="39" name="Text 37"/>
          <p:cNvSpPr/>
          <p:nvPr/>
        </p:nvSpPr>
        <p:spPr>
          <a:xfrm>
            <a:off x="8595360" y="3794760"/>
            <a:ext cx="31546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783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Serviceable Obtainable Market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8595360" y="4114800"/>
            <a:ext cx="3154680" cy="0"/>
          </a:xfrm>
          <a:prstGeom prst="line">
            <a:avLst/>
          </a:prstGeom>
          <a:noFill/>
          <a:ln w="6350">
            <a:solidFill>
              <a:srgbClr val="3A435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595360" y="4251960"/>
            <a:ext cx="315468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0F4F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500–600</a:t>
            </a:r>
            <a:endParaRPr lang="en-US" sz="4200" dirty="0"/>
          </a:p>
        </p:txBody>
      </p:sp>
      <p:sp>
        <p:nvSpPr>
          <p:cNvPr id="42" name="Text 40"/>
          <p:cNvSpPr/>
          <p:nvPr/>
        </p:nvSpPr>
        <p:spPr>
          <a:xfrm>
            <a:off x="8595360" y="5029200"/>
            <a:ext cx="31546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CB37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k€ / año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8595360" y="5349240"/>
            <a:ext cx="3154680" cy="45720"/>
          </a:xfrm>
          <a:prstGeom prst="rect">
            <a:avLst/>
          </a:prstGeom>
          <a:solidFill>
            <a:srgbClr val="1E2740"/>
          </a:solidFill>
        </p:spPr>
      </p:sp>
      <p:sp>
        <p:nvSpPr>
          <p:cNvPr id="44" name="Shape 42"/>
          <p:cNvSpPr/>
          <p:nvPr/>
        </p:nvSpPr>
        <p:spPr>
          <a:xfrm>
            <a:off x="8595360" y="5349240"/>
            <a:ext cx="567842" cy="45720"/>
          </a:xfrm>
          <a:prstGeom prst="rect">
            <a:avLst/>
          </a:prstGeom>
          <a:solidFill>
            <a:srgbClr val="3CB371"/>
          </a:solidFill>
        </p:spPr>
      </p:sp>
      <p:sp>
        <p:nvSpPr>
          <p:cNvPr id="45" name="Text 43"/>
          <p:cNvSpPr/>
          <p:nvPr/>
        </p:nvSpPr>
        <p:spPr>
          <a:xfrm>
            <a:off x="8595360" y="5486400"/>
            <a:ext cx="31546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B3CC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Objetivo conservador año 3 — 0,5 % del SAM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8595360" y="5943600"/>
            <a:ext cx="31546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5B678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Plan financiero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457200" y="6199632"/>
            <a:ext cx="112471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0D9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▸ </a:t>
            </a:r>
            <a:r>
              <a:rPr lang="en-US" sz="1200" dirty="0">
                <a:solidFill>
                  <a:srgbClr val="A8B3CC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Capturar el 0,5 % del SAM en tres años. Cifras conservadoras, defendibles y sostenibles para un equipo reducido.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868680"/>
            <a:ext cx="11277295" cy="0"/>
          </a:xfrm>
          <a:prstGeom prst="line">
            <a:avLst/>
          </a:prstGeom>
          <a:noFill/>
          <a:ln w="6350">
            <a:solidFill>
              <a:srgbClr val="3A435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6355080"/>
            <a:ext cx="11277295" cy="0"/>
          </a:xfrm>
          <a:prstGeom prst="line">
            <a:avLst/>
          </a:prstGeom>
          <a:noFill/>
          <a:ln w="6350">
            <a:solidFill>
              <a:srgbClr val="3A435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502920"/>
            <a:ext cx="91440" cy="91440"/>
          </a:xfrm>
          <a:prstGeom prst="ellipse">
            <a:avLst/>
          </a:prstGeom>
          <a:solidFill>
            <a:srgbClr val="00D9FF"/>
          </a:solidFill>
        </p:spPr>
      </p:sp>
      <p:sp>
        <p:nvSpPr>
          <p:cNvPr id="5" name="Text 3"/>
          <p:cNvSpPr/>
          <p:nvPr/>
        </p:nvSpPr>
        <p:spPr>
          <a:xfrm>
            <a:off x="640080" y="41148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00D9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[ 07 ]  PRODUCT SUITE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" y="594360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9448495" y="457200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300" dirty="0">
                <a:solidFill>
                  <a:srgbClr val="A8B3C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REDALYTICA.INTEL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6492240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78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07 / 13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438248" y="6492240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kern="0" spc="200" dirty="0">
                <a:solidFill>
                  <a:srgbClr val="5B678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REDALYTICA INTELLIGENCE  ·  MARKET INTELLIGENCE PLATFORM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9905695" y="6492240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kern="0" spc="300" dirty="0">
                <a:solidFill>
                  <a:srgbClr val="5B678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57200" y="960120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500" dirty="0">
                <a:solidFill>
                  <a:srgbClr val="00D9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NUESTRO PRODUCTO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57200" y="1097280"/>
            <a:ext cx="11277295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0F4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Cuatro líneas integradas, un solo cliente.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457200" y="2240280"/>
            <a:ext cx="11277295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8B3CC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Desde la PYME industrial hasta el fondo de infraestructura. Mismo núcleo metodológico, diferentes formatos de entrega y de precio.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3017520"/>
            <a:ext cx="5532120" cy="1600200"/>
          </a:xfrm>
          <a:prstGeom prst="rect">
            <a:avLst/>
          </a:prstGeom>
          <a:solidFill>
            <a:srgbClr val="111726"/>
          </a:solidFill>
          <a:ln w="9525">
            <a:solidFill>
              <a:srgbClr val="1E274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3017520"/>
            <a:ext cx="45720" cy="1600200"/>
          </a:xfrm>
          <a:prstGeom prst="rect">
            <a:avLst/>
          </a:prstGeom>
          <a:solidFill>
            <a:srgbClr val="00D9FF"/>
          </a:solidFill>
        </p:spPr>
      </p:sp>
      <p:sp>
        <p:nvSpPr>
          <p:cNvPr id="16" name="Text 14"/>
          <p:cNvSpPr/>
          <p:nvPr/>
        </p:nvSpPr>
        <p:spPr>
          <a:xfrm>
            <a:off x="731520" y="3200400"/>
            <a:ext cx="6400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0D9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P01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31520" y="3474720"/>
            <a:ext cx="31546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0F4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Dashboard SaaS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3794760" y="3200400"/>
            <a:ext cx="19202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00D9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79–1.490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3794760" y="3611880"/>
            <a:ext cx="192024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78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€/mes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731520" y="3977640"/>
            <a:ext cx="4983480" cy="0"/>
          </a:xfrm>
          <a:prstGeom prst="line">
            <a:avLst/>
          </a:prstGeom>
          <a:noFill/>
          <a:ln w="6350">
            <a:solidFill>
              <a:srgbClr val="3A435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4069080"/>
            <a:ext cx="498348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B3CC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6 vistas interactivas, alertas configurables, integración API. Línea principal de captación recurrente.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263640" y="3017520"/>
            <a:ext cx="5532120" cy="1600200"/>
          </a:xfrm>
          <a:prstGeom prst="rect">
            <a:avLst/>
          </a:prstGeom>
          <a:solidFill>
            <a:srgbClr val="111726"/>
          </a:solidFill>
          <a:ln w="9525">
            <a:solidFill>
              <a:srgbClr val="1E274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263640" y="3017520"/>
            <a:ext cx="45720" cy="1600200"/>
          </a:xfrm>
          <a:prstGeom prst="rect">
            <a:avLst/>
          </a:prstGeom>
          <a:solidFill>
            <a:srgbClr val="3CB371"/>
          </a:solidFill>
        </p:spPr>
      </p:sp>
      <p:sp>
        <p:nvSpPr>
          <p:cNvPr id="24" name="Text 22"/>
          <p:cNvSpPr/>
          <p:nvPr/>
        </p:nvSpPr>
        <p:spPr>
          <a:xfrm>
            <a:off x="6537960" y="3200400"/>
            <a:ext cx="6400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3CB37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P02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537960" y="3474720"/>
            <a:ext cx="31546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0F4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Data-as-a-Service API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9601200" y="3200400"/>
            <a:ext cx="19202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3CB37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149–799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9601200" y="3611880"/>
            <a:ext cx="192024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78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€/mes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537960" y="3977640"/>
            <a:ext cx="4983480" cy="0"/>
          </a:xfrm>
          <a:prstGeom prst="line">
            <a:avLst/>
          </a:prstGeom>
          <a:noFill/>
          <a:ln w="6350">
            <a:solidFill>
              <a:srgbClr val="3A435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537960" y="4069080"/>
            <a:ext cx="498348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B3CC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Endpoints de predicción de precio, intensidad CO₂, scoring de riesgo sistémico. Integración técnica.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57200" y="4800600"/>
            <a:ext cx="5532120" cy="1600200"/>
          </a:xfrm>
          <a:prstGeom prst="rect">
            <a:avLst/>
          </a:prstGeom>
          <a:solidFill>
            <a:srgbClr val="111726"/>
          </a:solidFill>
          <a:ln w="9525">
            <a:solidFill>
              <a:srgbClr val="1E274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57200" y="4800600"/>
            <a:ext cx="45720" cy="1600200"/>
          </a:xfrm>
          <a:prstGeom prst="rect">
            <a:avLst/>
          </a:prstGeom>
          <a:solidFill>
            <a:srgbClr val="F5C518"/>
          </a:solidFill>
        </p:spPr>
      </p:sp>
      <p:sp>
        <p:nvSpPr>
          <p:cNvPr id="32" name="Text 30"/>
          <p:cNvSpPr/>
          <p:nvPr/>
        </p:nvSpPr>
        <p:spPr>
          <a:xfrm>
            <a:off x="731520" y="4983480"/>
            <a:ext cx="6400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F5C51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P03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731520" y="5257800"/>
            <a:ext cx="31546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0F4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Reports &amp; Insights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3794760" y="4983480"/>
            <a:ext cx="19202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F5C51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2.500–12.000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3794760" y="5394960"/>
            <a:ext cx="192024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78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€/informe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731520" y="5760720"/>
            <a:ext cx="4983480" cy="0"/>
          </a:xfrm>
          <a:prstGeom prst="line">
            <a:avLst/>
          </a:prstGeom>
          <a:noFill/>
          <a:ln w="6350">
            <a:solidFill>
              <a:srgbClr val="3A435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31520" y="5852160"/>
            <a:ext cx="498348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B3CC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Informes trimestrales de outlook, anatomía del apagón, valoración de activos. Producto premium.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263640" y="4800600"/>
            <a:ext cx="5532120" cy="1600200"/>
          </a:xfrm>
          <a:prstGeom prst="rect">
            <a:avLst/>
          </a:prstGeom>
          <a:solidFill>
            <a:srgbClr val="111726"/>
          </a:solidFill>
          <a:ln w="9525">
            <a:solidFill>
              <a:srgbClr val="1E274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263640" y="4800600"/>
            <a:ext cx="45720" cy="1600200"/>
          </a:xfrm>
          <a:prstGeom prst="rect">
            <a:avLst/>
          </a:prstGeom>
          <a:solidFill>
            <a:srgbClr val="A78BFA"/>
          </a:solidFill>
        </p:spPr>
      </p:sp>
      <p:sp>
        <p:nvSpPr>
          <p:cNvPr id="40" name="Text 38"/>
          <p:cNvSpPr/>
          <p:nvPr/>
        </p:nvSpPr>
        <p:spPr>
          <a:xfrm>
            <a:off x="6537960" y="4983480"/>
            <a:ext cx="6400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A78BF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P04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6537960" y="5257800"/>
            <a:ext cx="31546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0F4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Strategic Consulting</a:t>
            </a:r>
            <a:endParaRPr lang="en-US" sz="1800" dirty="0"/>
          </a:p>
        </p:txBody>
      </p:sp>
      <p:sp>
        <p:nvSpPr>
          <p:cNvPr id="42" name="Text 40"/>
          <p:cNvSpPr/>
          <p:nvPr/>
        </p:nvSpPr>
        <p:spPr>
          <a:xfrm>
            <a:off x="9601200" y="4983480"/>
            <a:ext cx="19202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A78BF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750</a:t>
            </a:r>
            <a:endParaRPr lang="en-US" sz="2000" dirty="0"/>
          </a:p>
        </p:txBody>
      </p:sp>
      <p:sp>
        <p:nvSpPr>
          <p:cNvPr id="43" name="Text 41"/>
          <p:cNvSpPr/>
          <p:nvPr/>
        </p:nvSpPr>
        <p:spPr>
          <a:xfrm>
            <a:off x="9601200" y="5394960"/>
            <a:ext cx="192024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78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€/día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6537960" y="5760720"/>
            <a:ext cx="4983480" cy="0"/>
          </a:xfrm>
          <a:prstGeom prst="line">
            <a:avLst/>
          </a:prstGeom>
          <a:noFill/>
          <a:ln w="6350">
            <a:solidFill>
              <a:srgbClr val="3A435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537960" y="5852160"/>
            <a:ext cx="498348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B3CC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Auditoría de exposición eléctrica, estrategia de compra, due diligence renovable. Servicios a medida.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868680"/>
            <a:ext cx="11277295" cy="0"/>
          </a:xfrm>
          <a:prstGeom prst="line">
            <a:avLst/>
          </a:prstGeom>
          <a:noFill/>
          <a:ln w="6350">
            <a:solidFill>
              <a:srgbClr val="3A435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6355080"/>
            <a:ext cx="11277295" cy="0"/>
          </a:xfrm>
          <a:prstGeom prst="line">
            <a:avLst/>
          </a:prstGeom>
          <a:noFill/>
          <a:ln w="6350">
            <a:solidFill>
              <a:srgbClr val="3A435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502920"/>
            <a:ext cx="91440" cy="91440"/>
          </a:xfrm>
          <a:prstGeom prst="ellipse">
            <a:avLst/>
          </a:prstGeom>
          <a:solidFill>
            <a:srgbClr val="00D9FF"/>
          </a:solidFill>
        </p:spPr>
      </p:sp>
      <p:sp>
        <p:nvSpPr>
          <p:cNvPr id="5" name="Text 3"/>
          <p:cNvSpPr/>
          <p:nvPr/>
        </p:nvSpPr>
        <p:spPr>
          <a:xfrm>
            <a:off x="640080" y="41148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00D9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[ 08 ]  CUSTOMER SEGMENTS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" y="594360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9448495" y="457200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300" dirty="0">
                <a:solidFill>
                  <a:srgbClr val="A8B3C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REDALYTICA.INTEL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6492240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78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08 / 13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438248" y="6492240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kern="0" spc="200" dirty="0">
                <a:solidFill>
                  <a:srgbClr val="5B678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REDALYTICA INTELLIGENCE  ·  MARKET INTELLIGENCE PLATFORM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9905695" y="6492240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kern="0" spc="300" dirty="0">
                <a:solidFill>
                  <a:srgbClr val="5B678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57200" y="960120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500" dirty="0">
                <a:solidFill>
                  <a:srgbClr val="00D9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A QUIÉN VENDEMOS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57200" y="1097280"/>
            <a:ext cx="11277295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0F4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Cinco perfiles con dolor y presupuesto.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457200" y="2240280"/>
            <a:ext cx="11277295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8B3CC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No vendemos a "empresas en general". Identificamos al responsable concreto que sufre el dolor y tiene capacidad de compra.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3017520"/>
            <a:ext cx="11274552" cy="457200"/>
          </a:xfrm>
          <a:prstGeom prst="rect">
            <a:avLst/>
          </a:prstGeom>
          <a:solidFill>
            <a:srgbClr val="1A2235"/>
          </a:solidFill>
          <a:ln w="9525">
            <a:solidFill>
              <a:srgbClr val="1E274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3136392"/>
            <a:ext cx="457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300" dirty="0">
                <a:solidFill>
                  <a:srgbClr val="5B678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ID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1600200" y="3136392"/>
            <a:ext cx="283464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300" dirty="0">
                <a:solidFill>
                  <a:srgbClr val="5B678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PROFILE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892040" y="3136392"/>
            <a:ext cx="4114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300" dirty="0">
                <a:solidFill>
                  <a:srgbClr val="5B678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SECTOR · TYPICAL CLIENTS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9464040" y="3136392"/>
            <a:ext cx="2039112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kern="0" spc="300" dirty="0">
                <a:solidFill>
                  <a:srgbClr val="5B678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ANNUAL FEE (€)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594360" y="3675888"/>
            <a:ext cx="91440" cy="91440"/>
          </a:xfrm>
          <a:prstGeom prst="ellipse">
            <a:avLst/>
          </a:prstGeom>
          <a:solidFill>
            <a:srgbClr val="00D9FF"/>
          </a:solidFill>
        </p:spPr>
      </p:sp>
      <p:sp>
        <p:nvSpPr>
          <p:cNvPr id="20" name="Text 18"/>
          <p:cNvSpPr/>
          <p:nvPr/>
        </p:nvSpPr>
        <p:spPr>
          <a:xfrm>
            <a:off x="777240" y="3593592"/>
            <a:ext cx="5029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D9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BP01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600200" y="3593592"/>
            <a:ext cx="28346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F4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Director Compras Energéticas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892040" y="3593592"/>
            <a:ext cx="41148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B3CC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Industria mediana · Cerámica, química, acería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464040" y="3593592"/>
            <a:ext cx="2039112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00D9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6.000 – 12.000 €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57200" y="3977640"/>
            <a:ext cx="11274552" cy="502920"/>
          </a:xfrm>
          <a:prstGeom prst="rect">
            <a:avLst/>
          </a:prstGeom>
          <a:solidFill>
            <a:srgbClr val="111726"/>
          </a:solidFill>
        </p:spPr>
      </p:sp>
      <p:sp>
        <p:nvSpPr>
          <p:cNvPr id="25" name="Shape 23"/>
          <p:cNvSpPr/>
          <p:nvPr/>
        </p:nvSpPr>
        <p:spPr>
          <a:xfrm>
            <a:off x="594360" y="4178808"/>
            <a:ext cx="91440" cy="91440"/>
          </a:xfrm>
          <a:prstGeom prst="ellipse">
            <a:avLst/>
          </a:prstGeom>
          <a:solidFill>
            <a:srgbClr val="00D9FF"/>
          </a:solidFill>
        </p:spPr>
      </p:sp>
      <p:sp>
        <p:nvSpPr>
          <p:cNvPr id="26" name="Text 24"/>
          <p:cNvSpPr/>
          <p:nvPr/>
        </p:nvSpPr>
        <p:spPr>
          <a:xfrm>
            <a:off x="777240" y="4096512"/>
            <a:ext cx="5029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D9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BP02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600200" y="4096512"/>
            <a:ext cx="28346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F4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Trader Comercializadora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892040" y="4096512"/>
            <a:ext cx="41148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B3CC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Energía · Comercializadoras mid-market regionales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9464040" y="4096512"/>
            <a:ext cx="2039112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00D9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18.000 – 30.000 €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594360" y="4681728"/>
            <a:ext cx="91440" cy="91440"/>
          </a:xfrm>
          <a:prstGeom prst="ellipse">
            <a:avLst/>
          </a:prstGeom>
          <a:solidFill>
            <a:srgbClr val="3CB371"/>
          </a:solidFill>
        </p:spPr>
      </p:sp>
      <p:sp>
        <p:nvSpPr>
          <p:cNvPr id="31" name="Text 29"/>
          <p:cNvSpPr/>
          <p:nvPr/>
        </p:nvSpPr>
        <p:spPr>
          <a:xfrm>
            <a:off x="777240" y="4599432"/>
            <a:ext cx="5029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CB37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BP03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600200" y="4599432"/>
            <a:ext cx="28346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F4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Sustainability Officer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892040" y="4599432"/>
            <a:ext cx="41148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B3CC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Retail · Mercadona, El Corte Inglés, Inditex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9464040" y="4599432"/>
            <a:ext cx="2039112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3CB37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60.000 – 120.000 €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457200" y="4983480"/>
            <a:ext cx="11274552" cy="502920"/>
          </a:xfrm>
          <a:prstGeom prst="rect">
            <a:avLst/>
          </a:prstGeom>
          <a:solidFill>
            <a:srgbClr val="111726"/>
          </a:solidFill>
        </p:spPr>
      </p:sp>
      <p:sp>
        <p:nvSpPr>
          <p:cNvPr id="36" name="Shape 34"/>
          <p:cNvSpPr/>
          <p:nvPr/>
        </p:nvSpPr>
        <p:spPr>
          <a:xfrm>
            <a:off x="594360" y="5184648"/>
            <a:ext cx="91440" cy="91440"/>
          </a:xfrm>
          <a:prstGeom prst="ellipse">
            <a:avLst/>
          </a:prstGeom>
          <a:solidFill>
            <a:srgbClr val="A78BFA"/>
          </a:solidFill>
        </p:spPr>
      </p:sp>
      <p:sp>
        <p:nvSpPr>
          <p:cNvPr id="37" name="Text 35"/>
          <p:cNvSpPr/>
          <p:nvPr/>
        </p:nvSpPr>
        <p:spPr>
          <a:xfrm>
            <a:off x="777240" y="5102352"/>
            <a:ext cx="5029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A78BF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BP04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600200" y="5102352"/>
            <a:ext cx="28346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F4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Asset Manager Fondo Infra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4892040" y="5102352"/>
            <a:ext cx="41148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B3CC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Inversión · Macquarie, Plenium, Q-Energy, Brookfield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9464040" y="5102352"/>
            <a:ext cx="2039112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A78BF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35.000 – 80.000 €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594360" y="5687568"/>
            <a:ext cx="91440" cy="91440"/>
          </a:xfrm>
          <a:prstGeom prst="ellipse">
            <a:avLst/>
          </a:prstGeom>
          <a:solidFill>
            <a:srgbClr val="F5C518"/>
          </a:solidFill>
        </p:spPr>
      </p:sp>
      <p:sp>
        <p:nvSpPr>
          <p:cNvPr id="42" name="Text 40"/>
          <p:cNvSpPr/>
          <p:nvPr/>
        </p:nvSpPr>
        <p:spPr>
          <a:xfrm>
            <a:off x="777240" y="5605272"/>
            <a:ext cx="5029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5C51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BP05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1600200" y="5605272"/>
            <a:ext cx="28346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F4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Operaciones Datacenter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4892040" y="5605272"/>
            <a:ext cx="41148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B3CC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Cloud · Microsoft Azure, AWS, Equinix, Interxion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9464040" y="5605272"/>
            <a:ext cx="2039112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F5C51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80.000 – 150.000 €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484505" y="5925185"/>
            <a:ext cx="112471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0D9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▸ </a:t>
            </a:r>
            <a:r>
              <a:rPr lang="en-US" sz="1200" dirty="0">
                <a:solidFill>
                  <a:srgbClr val="A8B3CC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Cinco perfiles · cinco dolores distintos · cinco rangos de precio · misma plataforma analítica.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868680"/>
            <a:ext cx="11277295" cy="0"/>
          </a:xfrm>
          <a:prstGeom prst="line">
            <a:avLst/>
          </a:prstGeom>
          <a:noFill/>
          <a:ln w="6350">
            <a:solidFill>
              <a:srgbClr val="3A435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26720" y="6172200"/>
            <a:ext cx="11277295" cy="0"/>
          </a:xfrm>
          <a:prstGeom prst="line">
            <a:avLst/>
          </a:prstGeom>
          <a:noFill/>
          <a:ln w="6350">
            <a:solidFill>
              <a:srgbClr val="3A435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502920"/>
            <a:ext cx="91440" cy="91440"/>
          </a:xfrm>
          <a:prstGeom prst="ellipse">
            <a:avLst/>
          </a:prstGeom>
          <a:solidFill>
            <a:srgbClr val="00D9FF"/>
          </a:solidFill>
        </p:spPr>
      </p:sp>
      <p:sp>
        <p:nvSpPr>
          <p:cNvPr id="5" name="Text 3"/>
          <p:cNvSpPr/>
          <p:nvPr/>
        </p:nvSpPr>
        <p:spPr>
          <a:xfrm>
            <a:off x="640080" y="41148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00D9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[ 09 ]  PRICING STRUCTURE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" y="594360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9448495" y="457200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300" dirty="0">
                <a:solidFill>
                  <a:srgbClr val="A8B3C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REDALYTICA.INTEL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6492240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78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09 / 13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438248" y="6492240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kern="0" spc="200" dirty="0">
                <a:solidFill>
                  <a:srgbClr val="5B678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REDALYTICA INTELLIGENCE  ·  MARKET INTELLIGENCE PLATFORM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9905695" y="6492240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kern="0" spc="300" dirty="0">
                <a:solidFill>
                  <a:srgbClr val="5B678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57200" y="960120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500" dirty="0">
                <a:solidFill>
                  <a:srgbClr val="00D9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CÓMO MONETIZAMOS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57200" y="1097280"/>
            <a:ext cx="11277295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0F4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Cuatro planes, una entrada accesible.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457200" y="2240280"/>
            <a:ext cx="11277295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8B3CC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Estructura diseñada para escalar el ingreso por cliente a medida que crecen sus necesidades.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2926080"/>
            <a:ext cx="2743200" cy="3154680"/>
          </a:xfrm>
          <a:prstGeom prst="rect">
            <a:avLst/>
          </a:prstGeom>
          <a:solidFill>
            <a:srgbClr val="111726"/>
          </a:solidFill>
          <a:ln w="9525">
            <a:solidFill>
              <a:srgbClr val="1E274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3200400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A8B3C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STARTER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31520" y="3566160"/>
            <a:ext cx="2194560" cy="0"/>
          </a:xfrm>
          <a:prstGeom prst="line">
            <a:avLst/>
          </a:prstGeom>
          <a:noFill/>
          <a:ln w="6350">
            <a:solidFill>
              <a:srgbClr val="3A435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3703320"/>
            <a:ext cx="219456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0F4F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79</a:t>
            </a:r>
            <a:endParaRPr lang="en-US" sz="4000" dirty="0"/>
          </a:p>
        </p:txBody>
      </p:sp>
      <p:sp>
        <p:nvSpPr>
          <p:cNvPr id="18" name="Text 16"/>
          <p:cNvSpPr/>
          <p:nvPr/>
        </p:nvSpPr>
        <p:spPr>
          <a:xfrm>
            <a:off x="731520" y="4526280"/>
            <a:ext cx="219456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B3C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€/mes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31520" y="4800600"/>
            <a:ext cx="219456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B6783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PYME · Consultor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5074920"/>
            <a:ext cx="2194560" cy="0"/>
          </a:xfrm>
          <a:prstGeom prst="line">
            <a:avLst/>
          </a:prstGeom>
          <a:noFill/>
          <a:ln w="6350">
            <a:solidFill>
              <a:srgbClr val="3A435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5212080"/>
            <a:ext cx="219456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A8B3C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◦ </a:t>
            </a:r>
            <a:r>
              <a:rPr lang="en-US" sz="1000" dirty="0">
                <a:solidFill>
                  <a:srgbClr val="A8B3CC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Dashboard 6 vistas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31520" y="5486400"/>
            <a:ext cx="219456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A8B3C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◦ </a:t>
            </a:r>
            <a:r>
              <a:rPr lang="en-US" sz="1000" dirty="0">
                <a:solidFill>
                  <a:srgbClr val="A8B3CC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1 usuario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31520" y="5760720"/>
            <a:ext cx="219456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A8B3C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◦ </a:t>
            </a:r>
            <a:r>
              <a:rPr lang="en-US" sz="1000" dirty="0">
                <a:solidFill>
                  <a:srgbClr val="A8B3CC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Datos diarios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337560" y="2834640"/>
            <a:ext cx="2743200" cy="3337560"/>
          </a:xfrm>
          <a:prstGeom prst="rect">
            <a:avLst/>
          </a:prstGeom>
          <a:solidFill>
            <a:srgbClr val="1A2235"/>
          </a:solidFill>
          <a:ln w="9525">
            <a:solidFill>
              <a:srgbClr val="00D9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337560" y="2834640"/>
            <a:ext cx="2743200" cy="54864"/>
          </a:xfrm>
          <a:prstGeom prst="rect">
            <a:avLst/>
          </a:prstGeom>
          <a:solidFill>
            <a:srgbClr val="00D9FF"/>
          </a:solidFill>
        </p:spPr>
      </p:sp>
      <p:sp>
        <p:nvSpPr>
          <p:cNvPr id="26" name="Text 24"/>
          <p:cNvSpPr/>
          <p:nvPr/>
        </p:nvSpPr>
        <p:spPr>
          <a:xfrm>
            <a:off x="3611880" y="3017520"/>
            <a:ext cx="219456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00D9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● RECOMMENDED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3611880" y="3291840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00D9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PRO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611880" y="3657600"/>
            <a:ext cx="2194560" cy="0"/>
          </a:xfrm>
          <a:prstGeom prst="line">
            <a:avLst/>
          </a:prstGeom>
          <a:noFill/>
          <a:ln w="6350">
            <a:solidFill>
              <a:srgbClr val="3A435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11880" y="3794760"/>
            <a:ext cx="219456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0F4F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299</a:t>
            </a:r>
            <a:endParaRPr lang="en-US" sz="4000" dirty="0"/>
          </a:p>
        </p:txBody>
      </p:sp>
      <p:sp>
        <p:nvSpPr>
          <p:cNvPr id="30" name="Text 28"/>
          <p:cNvSpPr/>
          <p:nvPr/>
        </p:nvSpPr>
        <p:spPr>
          <a:xfrm>
            <a:off x="3611880" y="4617720"/>
            <a:ext cx="219456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B3C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€/mes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3611880" y="4892040"/>
            <a:ext cx="219456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B6783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Industria mediana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611880" y="5166360"/>
            <a:ext cx="2194560" cy="0"/>
          </a:xfrm>
          <a:prstGeom prst="line">
            <a:avLst/>
          </a:prstGeom>
          <a:noFill/>
          <a:ln w="6350">
            <a:solidFill>
              <a:srgbClr val="3A435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11880" y="5303520"/>
            <a:ext cx="219456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D9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◦ </a:t>
            </a:r>
            <a:r>
              <a:rPr lang="en-US" sz="1000" dirty="0">
                <a:solidFill>
                  <a:srgbClr val="A8B3CC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Todo Starter +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611880" y="5577840"/>
            <a:ext cx="219456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D9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◦ </a:t>
            </a:r>
            <a:r>
              <a:rPr lang="en-US" sz="1000" dirty="0">
                <a:solidFill>
                  <a:srgbClr val="A8B3CC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Alertas · 5 usuarios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3611880" y="5852160"/>
            <a:ext cx="219456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D9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◦ </a:t>
            </a:r>
            <a:r>
              <a:rPr lang="en-US" sz="1000" dirty="0">
                <a:solidFill>
                  <a:srgbClr val="A8B3CC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API básica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217920" y="2926080"/>
            <a:ext cx="2743200" cy="3154680"/>
          </a:xfrm>
          <a:prstGeom prst="rect">
            <a:avLst/>
          </a:prstGeom>
          <a:solidFill>
            <a:srgbClr val="111726"/>
          </a:solidFill>
          <a:ln w="9525">
            <a:solidFill>
              <a:srgbClr val="1E274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92240" y="3200400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3CB37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BUSINESS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492240" y="3566160"/>
            <a:ext cx="2194560" cy="0"/>
          </a:xfrm>
          <a:prstGeom prst="line">
            <a:avLst/>
          </a:prstGeom>
          <a:noFill/>
          <a:ln w="6350">
            <a:solidFill>
              <a:srgbClr val="3A435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492240" y="3703320"/>
            <a:ext cx="219456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0F4F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1.490</a:t>
            </a:r>
            <a:endParaRPr lang="en-US" sz="4000" dirty="0"/>
          </a:p>
        </p:txBody>
      </p:sp>
      <p:sp>
        <p:nvSpPr>
          <p:cNvPr id="40" name="Text 38"/>
          <p:cNvSpPr/>
          <p:nvPr/>
        </p:nvSpPr>
        <p:spPr>
          <a:xfrm>
            <a:off x="6492240" y="4526280"/>
            <a:ext cx="219456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B3C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€/mes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6492240" y="4800600"/>
            <a:ext cx="219456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B6783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Mid-market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6492240" y="5074920"/>
            <a:ext cx="2194560" cy="0"/>
          </a:xfrm>
          <a:prstGeom prst="line">
            <a:avLst/>
          </a:prstGeom>
          <a:noFill/>
          <a:ln w="6350">
            <a:solidFill>
              <a:srgbClr val="3A435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492240" y="5212080"/>
            <a:ext cx="219456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CB37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◦ </a:t>
            </a:r>
            <a:r>
              <a:rPr lang="en-US" sz="1000" dirty="0">
                <a:solidFill>
                  <a:srgbClr val="A8B3CC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Todo Pro +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6492240" y="5486400"/>
            <a:ext cx="219456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CB37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◦ </a:t>
            </a:r>
            <a:r>
              <a:rPr lang="en-US" sz="1000" dirty="0">
                <a:solidFill>
                  <a:srgbClr val="A8B3CC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API completa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6492240" y="5760720"/>
            <a:ext cx="219456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CB37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◦ </a:t>
            </a:r>
            <a:r>
              <a:rPr lang="en-US" sz="1000" dirty="0">
                <a:solidFill>
                  <a:srgbClr val="A8B3CC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25 usuarios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9098280" y="2926080"/>
            <a:ext cx="2743200" cy="3154680"/>
          </a:xfrm>
          <a:prstGeom prst="rect">
            <a:avLst/>
          </a:prstGeom>
          <a:solidFill>
            <a:srgbClr val="111726"/>
          </a:solidFill>
          <a:ln w="9525">
            <a:solidFill>
              <a:srgbClr val="1E274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9372600" y="3200400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F5C51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ENTERPRISE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9372600" y="3566160"/>
            <a:ext cx="2194560" cy="0"/>
          </a:xfrm>
          <a:prstGeom prst="line">
            <a:avLst/>
          </a:prstGeom>
          <a:noFill/>
          <a:ln w="6350">
            <a:solidFill>
              <a:srgbClr val="3A4358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9372600" y="3703320"/>
            <a:ext cx="219456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0F4F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30.000+</a:t>
            </a:r>
            <a:endParaRPr lang="en-US" sz="4000" dirty="0"/>
          </a:p>
        </p:txBody>
      </p:sp>
      <p:sp>
        <p:nvSpPr>
          <p:cNvPr id="50" name="Text 48"/>
          <p:cNvSpPr/>
          <p:nvPr/>
        </p:nvSpPr>
        <p:spPr>
          <a:xfrm>
            <a:off x="9372600" y="4526280"/>
            <a:ext cx="219456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B3C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€/año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9372600" y="4800600"/>
            <a:ext cx="219456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B6783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Fondos · Datacenter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9372600" y="5074920"/>
            <a:ext cx="2194560" cy="0"/>
          </a:xfrm>
          <a:prstGeom prst="line">
            <a:avLst/>
          </a:prstGeom>
          <a:noFill/>
          <a:ln w="6350">
            <a:solidFill>
              <a:srgbClr val="3A4358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9372600" y="5212080"/>
            <a:ext cx="219456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C51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◦ </a:t>
            </a:r>
            <a:r>
              <a:rPr lang="en-US" sz="1000" dirty="0">
                <a:solidFill>
                  <a:srgbClr val="A8B3CC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Todo Business +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9372600" y="5486400"/>
            <a:ext cx="219456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C51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◦ </a:t>
            </a:r>
            <a:r>
              <a:rPr lang="en-US" sz="1000" dirty="0">
                <a:solidFill>
                  <a:srgbClr val="A8B3CC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SLA dedicado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9372600" y="5760720"/>
            <a:ext cx="219456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C51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◦ </a:t>
            </a:r>
            <a:r>
              <a:rPr lang="en-US" sz="1000" dirty="0">
                <a:solidFill>
                  <a:srgbClr val="A8B3CC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Consultor asignado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426720" y="6218047"/>
            <a:ext cx="112471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0D9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▸ </a:t>
            </a:r>
            <a:r>
              <a:rPr lang="en-US" sz="1200" dirty="0">
                <a:solidFill>
                  <a:srgbClr val="A8B3CC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Add-ons: informes premium (2.500–12.000 €) y consultoría (750 €/día). Cuatro streams diversificados de ingresos.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868680"/>
            <a:ext cx="11277295" cy="0"/>
          </a:xfrm>
          <a:prstGeom prst="line">
            <a:avLst/>
          </a:prstGeom>
          <a:noFill/>
          <a:ln w="6350">
            <a:solidFill>
              <a:srgbClr val="3A435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6355080"/>
            <a:ext cx="11277295" cy="0"/>
          </a:xfrm>
          <a:prstGeom prst="line">
            <a:avLst/>
          </a:prstGeom>
          <a:noFill/>
          <a:ln w="6350">
            <a:solidFill>
              <a:srgbClr val="3A435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502920"/>
            <a:ext cx="91440" cy="91440"/>
          </a:xfrm>
          <a:prstGeom prst="ellipse">
            <a:avLst/>
          </a:prstGeom>
          <a:solidFill>
            <a:srgbClr val="00D9FF"/>
          </a:solidFill>
        </p:spPr>
      </p:sp>
      <p:sp>
        <p:nvSpPr>
          <p:cNvPr id="5" name="Text 3"/>
          <p:cNvSpPr/>
          <p:nvPr/>
        </p:nvSpPr>
        <p:spPr>
          <a:xfrm>
            <a:off x="640080" y="41148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00D9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[ 10 ]  FINANCIAL OUTLOOK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" y="594360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9448495" y="457200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300" dirty="0">
                <a:solidFill>
                  <a:srgbClr val="A8B3C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REDALYTICA.INTEL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6492240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78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10 / 13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438248" y="6492240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kern="0" spc="200" dirty="0">
                <a:solidFill>
                  <a:srgbClr val="5B678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REDALYTICA INTELLIGENCE  ·  MARKET INTELLIGENCE PLATFORM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9905695" y="6492240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kern="0" spc="300" dirty="0">
                <a:solidFill>
                  <a:srgbClr val="5B678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57200" y="960120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500" dirty="0">
                <a:solidFill>
                  <a:srgbClr val="00D9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PROYECCIONES FINANCIERAS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57200" y="1097280"/>
            <a:ext cx="11277295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0F4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 0 a 560 k€ en tres años.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457200" y="2240280"/>
            <a:ext cx="11277295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8B3CC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Escenario conservador. Break-even operativo entre el mes 14 y 18. Margen EBITDA del 43 % en el tercer año.</a:t>
            </a:r>
            <a:endParaRPr lang="en-US" sz="1300" dirty="0"/>
          </a:p>
        </p:txBody>
      </p:sp>
      <p:graphicFrame>
        <p:nvGraphicFramePr>
          <p:cNvPr id="14" name="Chart 0"/>
          <p:cNvGraphicFramePr/>
          <p:nvPr/>
        </p:nvGraphicFramePr>
        <p:xfrm>
          <a:off x="457200" y="3017520"/>
          <a:ext cx="6400800" cy="2468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15" name="Shape 12"/>
          <p:cNvSpPr/>
          <p:nvPr/>
        </p:nvSpPr>
        <p:spPr>
          <a:xfrm>
            <a:off x="7178040" y="3017520"/>
            <a:ext cx="4572000" cy="777240"/>
          </a:xfrm>
          <a:prstGeom prst="rect">
            <a:avLst/>
          </a:prstGeom>
          <a:solidFill>
            <a:srgbClr val="111726"/>
          </a:solidFill>
          <a:ln w="9525">
            <a:solidFill>
              <a:srgbClr val="1E2740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7178040" y="3017520"/>
            <a:ext cx="4572000" cy="36576"/>
          </a:xfrm>
          <a:prstGeom prst="rect">
            <a:avLst/>
          </a:prstGeom>
          <a:solidFill>
            <a:srgbClr val="00D9FF"/>
          </a:solidFill>
        </p:spPr>
      </p:sp>
      <p:sp>
        <p:nvSpPr>
          <p:cNvPr id="17" name="Text 14"/>
          <p:cNvSpPr/>
          <p:nvPr/>
        </p:nvSpPr>
        <p:spPr>
          <a:xfrm>
            <a:off x="7406640" y="3127248"/>
            <a:ext cx="41148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5B678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CLIENT GROWTH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7406640" y="3364992"/>
            <a:ext cx="4114800" cy="3840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0D9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5 → 41</a:t>
            </a:r>
            <a:endParaRPr lang="en-US" sz="2200" dirty="0"/>
          </a:p>
        </p:txBody>
      </p:sp>
      <p:sp>
        <p:nvSpPr>
          <p:cNvPr id="19" name="Shape 16"/>
          <p:cNvSpPr/>
          <p:nvPr/>
        </p:nvSpPr>
        <p:spPr>
          <a:xfrm>
            <a:off x="7178040" y="3858768"/>
            <a:ext cx="4572000" cy="777240"/>
          </a:xfrm>
          <a:prstGeom prst="rect">
            <a:avLst/>
          </a:prstGeom>
          <a:solidFill>
            <a:srgbClr val="111726"/>
          </a:solidFill>
          <a:ln w="9525">
            <a:solidFill>
              <a:srgbClr val="1E2740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7178040" y="3858768"/>
            <a:ext cx="4572000" cy="36576"/>
          </a:xfrm>
          <a:prstGeom prst="rect">
            <a:avLst/>
          </a:prstGeom>
          <a:solidFill>
            <a:srgbClr val="3CB371"/>
          </a:solidFill>
        </p:spPr>
      </p:sp>
      <p:sp>
        <p:nvSpPr>
          <p:cNvPr id="21" name="Text 18"/>
          <p:cNvSpPr/>
          <p:nvPr/>
        </p:nvSpPr>
        <p:spPr>
          <a:xfrm>
            <a:off x="7406640" y="3968496"/>
            <a:ext cx="41148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5B678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BREAK-EVEN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7406640" y="4206240"/>
            <a:ext cx="4114800" cy="3840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3CB37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M14–M18</a:t>
            </a:r>
            <a:endParaRPr lang="en-US" sz="2200" dirty="0"/>
          </a:p>
        </p:txBody>
      </p:sp>
      <p:sp>
        <p:nvSpPr>
          <p:cNvPr id="23" name="Shape 20"/>
          <p:cNvSpPr/>
          <p:nvPr/>
        </p:nvSpPr>
        <p:spPr>
          <a:xfrm>
            <a:off x="7178040" y="4700016"/>
            <a:ext cx="4572000" cy="777240"/>
          </a:xfrm>
          <a:prstGeom prst="rect">
            <a:avLst/>
          </a:prstGeom>
          <a:solidFill>
            <a:srgbClr val="111726"/>
          </a:solidFill>
          <a:ln w="9525">
            <a:solidFill>
              <a:srgbClr val="1E2740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7178040" y="4700016"/>
            <a:ext cx="4572000" cy="36576"/>
          </a:xfrm>
          <a:prstGeom prst="rect">
            <a:avLst/>
          </a:prstGeom>
          <a:solidFill>
            <a:srgbClr val="F5C518"/>
          </a:solidFill>
        </p:spPr>
      </p:sp>
      <p:sp>
        <p:nvSpPr>
          <p:cNvPr id="25" name="Text 22"/>
          <p:cNvSpPr/>
          <p:nvPr/>
        </p:nvSpPr>
        <p:spPr>
          <a:xfrm>
            <a:off x="7406640" y="4809744"/>
            <a:ext cx="41148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5B678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EBITDA MARGIN</a:t>
            </a:r>
            <a:endParaRPr lang="en-US" sz="800" dirty="0"/>
          </a:p>
        </p:txBody>
      </p:sp>
      <p:sp>
        <p:nvSpPr>
          <p:cNvPr id="26" name="Text 23"/>
          <p:cNvSpPr/>
          <p:nvPr/>
        </p:nvSpPr>
        <p:spPr>
          <a:xfrm>
            <a:off x="7406640" y="5047488"/>
            <a:ext cx="4114800" cy="3840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5C51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43%</a:t>
            </a:r>
            <a:endParaRPr lang="en-US" sz="2200" dirty="0"/>
          </a:p>
        </p:txBody>
      </p:sp>
      <p:sp>
        <p:nvSpPr>
          <p:cNvPr id="27" name="Shape 24"/>
          <p:cNvSpPr/>
          <p:nvPr/>
        </p:nvSpPr>
        <p:spPr>
          <a:xfrm>
            <a:off x="457200" y="5669280"/>
            <a:ext cx="6400800" cy="777240"/>
          </a:xfrm>
          <a:prstGeom prst="rect">
            <a:avLst/>
          </a:prstGeom>
          <a:solidFill>
            <a:srgbClr val="111726"/>
          </a:solidFill>
          <a:ln w="9525">
            <a:solidFill>
              <a:srgbClr val="1E2740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94360" y="5715000"/>
            <a:ext cx="13258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300" dirty="0">
                <a:solidFill>
                  <a:srgbClr val="5B678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CONCEPT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2194560" y="5715000"/>
            <a:ext cx="13258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300" dirty="0">
                <a:solidFill>
                  <a:srgbClr val="5B678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YEAR 1</a:t>
            </a:r>
            <a:endParaRPr lang="en-US" sz="800" dirty="0"/>
          </a:p>
        </p:txBody>
      </p:sp>
      <p:sp>
        <p:nvSpPr>
          <p:cNvPr id="30" name="Text 27"/>
          <p:cNvSpPr/>
          <p:nvPr/>
        </p:nvSpPr>
        <p:spPr>
          <a:xfrm>
            <a:off x="3794760" y="5715000"/>
            <a:ext cx="13258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300" dirty="0">
                <a:solidFill>
                  <a:srgbClr val="5B678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YEAR 2</a:t>
            </a:r>
            <a:endParaRPr lang="en-US" sz="800" dirty="0"/>
          </a:p>
        </p:txBody>
      </p:sp>
      <p:sp>
        <p:nvSpPr>
          <p:cNvPr id="31" name="Text 28"/>
          <p:cNvSpPr/>
          <p:nvPr/>
        </p:nvSpPr>
        <p:spPr>
          <a:xfrm>
            <a:off x="5394960" y="5715000"/>
            <a:ext cx="13258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300" dirty="0">
                <a:solidFill>
                  <a:srgbClr val="5B678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YEAR 3</a:t>
            </a:r>
            <a:endParaRPr lang="en-US" sz="800" dirty="0"/>
          </a:p>
        </p:txBody>
      </p:sp>
      <p:sp>
        <p:nvSpPr>
          <p:cNvPr id="32" name="Text 29"/>
          <p:cNvSpPr/>
          <p:nvPr/>
        </p:nvSpPr>
        <p:spPr>
          <a:xfrm>
            <a:off x="594360" y="5989320"/>
            <a:ext cx="13258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0F4FA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Team size</a:t>
            </a:r>
            <a:endParaRPr lang="en-US" sz="1000" dirty="0"/>
          </a:p>
        </p:txBody>
      </p:sp>
      <p:sp>
        <p:nvSpPr>
          <p:cNvPr id="33" name="Text 30"/>
          <p:cNvSpPr/>
          <p:nvPr/>
        </p:nvSpPr>
        <p:spPr>
          <a:xfrm>
            <a:off x="2194560" y="5989320"/>
            <a:ext cx="13258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A8B3C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2</a:t>
            </a:r>
            <a:endParaRPr lang="en-US" sz="1100" dirty="0"/>
          </a:p>
        </p:txBody>
      </p:sp>
      <p:sp>
        <p:nvSpPr>
          <p:cNvPr id="34" name="Text 31"/>
          <p:cNvSpPr/>
          <p:nvPr/>
        </p:nvSpPr>
        <p:spPr>
          <a:xfrm>
            <a:off x="3794760" y="5989320"/>
            <a:ext cx="13258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A8B3C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3</a:t>
            </a:r>
            <a:endParaRPr lang="en-US" sz="1100" dirty="0"/>
          </a:p>
        </p:txBody>
      </p:sp>
      <p:sp>
        <p:nvSpPr>
          <p:cNvPr id="35" name="Text 32"/>
          <p:cNvSpPr/>
          <p:nvPr/>
        </p:nvSpPr>
        <p:spPr>
          <a:xfrm>
            <a:off x="5394960" y="5989320"/>
            <a:ext cx="13258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A8B3C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4–5</a:t>
            </a:r>
            <a:endParaRPr lang="en-US" sz="1100" dirty="0"/>
          </a:p>
        </p:txBody>
      </p:sp>
      <p:sp>
        <p:nvSpPr>
          <p:cNvPr id="36" name="Text 33"/>
          <p:cNvSpPr/>
          <p:nvPr/>
        </p:nvSpPr>
        <p:spPr>
          <a:xfrm>
            <a:off x="594360" y="6217920"/>
            <a:ext cx="13258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0F4FA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EBITDA</a:t>
            </a:r>
            <a:endParaRPr lang="en-US" sz="1000" dirty="0"/>
          </a:p>
        </p:txBody>
      </p:sp>
      <p:sp>
        <p:nvSpPr>
          <p:cNvPr id="37" name="Text 34"/>
          <p:cNvSpPr/>
          <p:nvPr/>
        </p:nvSpPr>
        <p:spPr>
          <a:xfrm>
            <a:off x="2194560" y="6217920"/>
            <a:ext cx="13258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6B6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−30 k€</a:t>
            </a:r>
            <a:endParaRPr lang="en-US" sz="1100" dirty="0"/>
          </a:p>
        </p:txBody>
      </p:sp>
      <p:sp>
        <p:nvSpPr>
          <p:cNvPr id="38" name="Text 35"/>
          <p:cNvSpPr/>
          <p:nvPr/>
        </p:nvSpPr>
        <p:spPr>
          <a:xfrm>
            <a:off x="3794760" y="6217920"/>
            <a:ext cx="13258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CB37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+45 k€</a:t>
            </a:r>
            <a:endParaRPr lang="en-US" sz="1100" dirty="0"/>
          </a:p>
        </p:txBody>
      </p:sp>
      <p:sp>
        <p:nvSpPr>
          <p:cNvPr id="39" name="Text 36"/>
          <p:cNvSpPr/>
          <p:nvPr/>
        </p:nvSpPr>
        <p:spPr>
          <a:xfrm>
            <a:off x="5394960" y="6217920"/>
            <a:ext cx="13258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CB37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+240 k€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868680"/>
            <a:ext cx="11277295" cy="0"/>
          </a:xfrm>
          <a:prstGeom prst="line">
            <a:avLst/>
          </a:prstGeom>
          <a:noFill/>
          <a:ln w="6350">
            <a:solidFill>
              <a:srgbClr val="3A435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6355080"/>
            <a:ext cx="11277295" cy="0"/>
          </a:xfrm>
          <a:prstGeom prst="line">
            <a:avLst/>
          </a:prstGeom>
          <a:noFill/>
          <a:ln w="6350">
            <a:solidFill>
              <a:srgbClr val="3A435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502920"/>
            <a:ext cx="91440" cy="91440"/>
          </a:xfrm>
          <a:prstGeom prst="ellipse">
            <a:avLst/>
          </a:prstGeom>
          <a:solidFill>
            <a:srgbClr val="00D9FF"/>
          </a:solidFill>
        </p:spPr>
      </p:sp>
      <p:sp>
        <p:nvSpPr>
          <p:cNvPr id="5" name="Text 3"/>
          <p:cNvSpPr/>
          <p:nvPr/>
        </p:nvSpPr>
        <p:spPr>
          <a:xfrm>
            <a:off x="640080" y="41148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00D9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[ 11 ]  COMPETITIVE MOATS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" y="594360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9448495" y="457200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300" dirty="0">
                <a:solidFill>
                  <a:srgbClr val="A8B3C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REDALYTICA.INTEL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6492240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78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11 / 13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438248" y="6492240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kern="0" spc="200" dirty="0">
                <a:solidFill>
                  <a:srgbClr val="5B678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REDALYTICA INTELLIGENCE  ·  MARKET INTELLIGENCE PLATFORM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9905695" y="6492240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kern="0" spc="300" dirty="0">
                <a:solidFill>
                  <a:srgbClr val="5B678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57200" y="960120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500" dirty="0">
                <a:solidFill>
                  <a:srgbClr val="00D9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VENTAJA COMPETITIVA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57200" y="1097280"/>
            <a:ext cx="11277295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0F4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Cuatro elementos que nadie más tiene.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457200" y="2240280"/>
            <a:ext cx="11277295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8B3CC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Diferenciación defendible frente a Aurora Energy Research, Wood Mackenzie y soluciones públicas oficiales.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3017520"/>
            <a:ext cx="5532120" cy="1600200"/>
          </a:xfrm>
          <a:prstGeom prst="rect">
            <a:avLst/>
          </a:prstGeom>
          <a:solidFill>
            <a:srgbClr val="111726"/>
          </a:solidFill>
          <a:ln w="9525">
            <a:solidFill>
              <a:srgbClr val="1E274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3200400"/>
            <a:ext cx="1371600" cy="1371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0" b="1" dirty="0">
                <a:solidFill>
                  <a:srgbClr val="00D9FF">
                    <a:alpha val="30000"/>
                  </a:srgbClr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01</a:t>
            </a:r>
            <a:endParaRPr lang="en-US" sz="7000" dirty="0"/>
          </a:p>
        </p:txBody>
      </p:sp>
      <p:sp>
        <p:nvSpPr>
          <p:cNvPr id="16" name="Text 14"/>
          <p:cNvSpPr/>
          <p:nvPr/>
        </p:nvSpPr>
        <p:spPr>
          <a:xfrm>
            <a:off x="2194560" y="3246120"/>
            <a:ext cx="36118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5B678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GEOGRAPHIC FOCUS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2194560" y="3520440"/>
            <a:ext cx="36118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0F4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Foco peninsular exclusivo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2194560" y="3931920"/>
            <a:ext cx="3611880" cy="0"/>
          </a:xfrm>
          <a:prstGeom prst="line">
            <a:avLst/>
          </a:prstGeom>
          <a:noFill/>
          <a:ln w="6350">
            <a:solidFill>
              <a:srgbClr val="3A435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194560" y="4023360"/>
            <a:ext cx="36118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B3CC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OMIE, excepción ibérica, estructura tecnológica española. Aurora y Wood Mackenzie cubren Europa con profundidad limitada en MIBEL.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263640" y="3017520"/>
            <a:ext cx="5532120" cy="1600200"/>
          </a:xfrm>
          <a:prstGeom prst="rect">
            <a:avLst/>
          </a:prstGeom>
          <a:solidFill>
            <a:srgbClr val="111726"/>
          </a:solidFill>
          <a:ln w="9525">
            <a:solidFill>
              <a:srgbClr val="1E274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92240" y="3200400"/>
            <a:ext cx="1371600" cy="1371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0" b="1" dirty="0">
                <a:solidFill>
                  <a:srgbClr val="3CB371">
                    <a:alpha val="30000"/>
                  </a:srgbClr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02</a:t>
            </a:r>
            <a:endParaRPr lang="en-US" sz="7000" dirty="0"/>
          </a:p>
        </p:txBody>
      </p:sp>
      <p:sp>
        <p:nvSpPr>
          <p:cNvPr id="22" name="Text 20"/>
          <p:cNvSpPr/>
          <p:nvPr/>
        </p:nvSpPr>
        <p:spPr>
          <a:xfrm>
            <a:off x="8001000" y="3246120"/>
            <a:ext cx="36118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5B678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PRICING POWER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8001000" y="3520440"/>
            <a:ext cx="36118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0F4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Precios accesibles PYME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8001000" y="3931920"/>
            <a:ext cx="3611880" cy="0"/>
          </a:xfrm>
          <a:prstGeom prst="line">
            <a:avLst/>
          </a:prstGeom>
          <a:noFill/>
          <a:ln w="6350">
            <a:solidFill>
              <a:srgbClr val="3A435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001000" y="4023360"/>
            <a:ext cx="36118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B3CC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Entrada desde 79 €/mes vs. 60–150 k€/año de los referentes internacionales. Habilitamos un segmento desatendido.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57200" y="4800600"/>
            <a:ext cx="5532120" cy="1600200"/>
          </a:xfrm>
          <a:prstGeom prst="rect">
            <a:avLst/>
          </a:prstGeom>
          <a:solidFill>
            <a:srgbClr val="111726"/>
          </a:solidFill>
          <a:ln w="9525">
            <a:solidFill>
              <a:srgbClr val="1E274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85800" y="4983480"/>
            <a:ext cx="1371600" cy="1371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0" b="1" dirty="0">
                <a:solidFill>
                  <a:srgbClr val="F5C518">
                    <a:alpha val="30000"/>
                  </a:srgbClr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03</a:t>
            </a:r>
            <a:endParaRPr lang="en-US" sz="7000" dirty="0"/>
          </a:p>
        </p:txBody>
      </p:sp>
      <p:sp>
        <p:nvSpPr>
          <p:cNvPr id="28" name="Text 26"/>
          <p:cNvSpPr/>
          <p:nvPr/>
        </p:nvSpPr>
        <p:spPr>
          <a:xfrm>
            <a:off x="2194560" y="5029200"/>
            <a:ext cx="36118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5B678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PROPRIETARY ASSET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2194560" y="5303520"/>
            <a:ext cx="36118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0F4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Análisis forense del apagón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2194560" y="5715000"/>
            <a:ext cx="3611880" cy="0"/>
          </a:xfrm>
          <a:prstGeom prst="line">
            <a:avLst/>
          </a:prstGeom>
          <a:noFill/>
          <a:ln w="6350">
            <a:solidFill>
              <a:srgbClr val="3A435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194560" y="5806440"/>
            <a:ext cx="36118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B3CC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Pieza única del 28-abril-2025. Activo de propiedad intelectual diferencial que ningún competidor puede ofrecer.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263640" y="4800600"/>
            <a:ext cx="5532120" cy="1600200"/>
          </a:xfrm>
          <a:prstGeom prst="rect">
            <a:avLst/>
          </a:prstGeom>
          <a:solidFill>
            <a:srgbClr val="111726"/>
          </a:solidFill>
          <a:ln w="9525">
            <a:solidFill>
              <a:srgbClr val="1E274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92240" y="4983480"/>
            <a:ext cx="1371600" cy="1371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0" b="1" dirty="0">
                <a:solidFill>
                  <a:srgbClr val="A78BFA">
                    <a:alpha val="30000"/>
                  </a:srgbClr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04</a:t>
            </a:r>
            <a:endParaRPr lang="en-US" sz="7000" dirty="0"/>
          </a:p>
        </p:txBody>
      </p:sp>
      <p:sp>
        <p:nvSpPr>
          <p:cNvPr id="34" name="Text 32"/>
          <p:cNvSpPr/>
          <p:nvPr/>
        </p:nvSpPr>
        <p:spPr>
          <a:xfrm>
            <a:off x="8001000" y="5029200"/>
            <a:ext cx="36118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5B678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TRUST &amp; RIGOR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8001000" y="5303520"/>
            <a:ext cx="36118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0F4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Validación metodológica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8001000" y="5715000"/>
            <a:ext cx="3611880" cy="0"/>
          </a:xfrm>
          <a:prstGeom prst="line">
            <a:avLst/>
          </a:prstGeom>
          <a:noFill/>
          <a:ln w="6350">
            <a:solidFill>
              <a:srgbClr val="3A435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001000" y="5806440"/>
            <a:ext cx="36118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B3CC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Cada métrica trazable a REE, OMIE o CNMC. Diferencia &lt;5% frente a publicaciones oficiales. Documentado y auditable.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868680"/>
            <a:ext cx="11277295" cy="0"/>
          </a:xfrm>
          <a:prstGeom prst="line">
            <a:avLst/>
          </a:prstGeom>
          <a:noFill/>
          <a:ln w="6350">
            <a:solidFill>
              <a:srgbClr val="3A435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6720840"/>
            <a:ext cx="11277295" cy="0"/>
          </a:xfrm>
          <a:prstGeom prst="line">
            <a:avLst/>
          </a:prstGeom>
          <a:noFill/>
          <a:ln w="6350">
            <a:solidFill>
              <a:srgbClr val="3A435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502920"/>
            <a:ext cx="91440" cy="91440"/>
          </a:xfrm>
          <a:prstGeom prst="ellipse">
            <a:avLst/>
          </a:prstGeom>
          <a:solidFill>
            <a:srgbClr val="00D9FF"/>
          </a:solidFill>
        </p:spPr>
      </p:sp>
      <p:sp>
        <p:nvSpPr>
          <p:cNvPr id="5" name="Text 3"/>
          <p:cNvSpPr/>
          <p:nvPr/>
        </p:nvSpPr>
        <p:spPr>
          <a:xfrm>
            <a:off x="640080" y="41148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00D9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[ 12 ]  PRODUCT IN ACTION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" y="594360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9448495" y="457200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300" dirty="0">
                <a:solidFill>
                  <a:srgbClr val="A8B3C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REDALYTICA.INTEL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6492240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78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12 / 13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438248" y="6492240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kern="0" spc="200" dirty="0">
                <a:solidFill>
                  <a:srgbClr val="5B678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REDALYTICA INTELLIGENCE  ·  MARKET INTELLIGENCE PLATFORM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9905695" y="6492240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kern="0" spc="300" dirty="0">
                <a:solidFill>
                  <a:srgbClr val="5B678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57200" y="960120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500" dirty="0">
                <a:solidFill>
                  <a:srgbClr val="00D9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EL PRODUCTO EN ACCIÓN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57200" y="1097280"/>
            <a:ext cx="11277295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0F4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Seis vistas operativas, una experiencia única.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457200" y="2240280"/>
            <a:ext cx="11277295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8B3CC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Construido con datos oficiales, 65 medidas DAX auditadas y sistema de diseño propio coherente.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3017520"/>
            <a:ext cx="3703320" cy="1417320"/>
          </a:xfrm>
          <a:prstGeom prst="rect">
            <a:avLst/>
          </a:prstGeom>
          <a:solidFill>
            <a:srgbClr val="111726"/>
          </a:solidFill>
          <a:ln w="9525">
            <a:solidFill>
              <a:srgbClr val="1E274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0080" y="3092450"/>
            <a:ext cx="3337560" cy="930910"/>
          </a:xfrm>
          <a:prstGeom prst="rect">
            <a:avLst/>
          </a:prstGeom>
          <a:blipFill rotWithShape="1">
            <a:blip r:embed="rId1"/>
            <a:stretch>
              <a:fillRect/>
            </a:stretch>
          </a:blipFill>
          <a:ln w="6350">
            <a:solidFill>
              <a:srgbClr val="3A4358"/>
            </a:solidFill>
            <a:prstDash val="dash"/>
          </a:ln>
        </p:spPr>
      </p:sp>
      <p:sp>
        <p:nvSpPr>
          <p:cNvPr id="16" name="Text 14"/>
          <p:cNvSpPr/>
          <p:nvPr/>
        </p:nvSpPr>
        <p:spPr>
          <a:xfrm>
            <a:off x="640080" y="3014345"/>
            <a:ext cx="3337560" cy="95123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57200" y="4023360"/>
            <a:ext cx="45720" cy="411480"/>
          </a:xfrm>
          <a:prstGeom prst="rect">
            <a:avLst/>
          </a:prstGeom>
          <a:solidFill>
            <a:srgbClr val="00D9FF"/>
          </a:solidFill>
        </p:spPr>
      </p:sp>
      <p:sp>
        <p:nvSpPr>
          <p:cNvPr id="18" name="Text 16"/>
          <p:cNvSpPr/>
          <p:nvPr/>
        </p:nvSpPr>
        <p:spPr>
          <a:xfrm>
            <a:off x="640080" y="4041648"/>
            <a:ext cx="457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D9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V01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43000" y="4041648"/>
            <a:ext cx="288036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0F4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Resumen Ejecutivo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143000" y="4251960"/>
            <a:ext cx="288036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B6783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KPIs principales del sistema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4297680" y="3017520"/>
            <a:ext cx="3703320" cy="1417320"/>
          </a:xfrm>
          <a:prstGeom prst="rect">
            <a:avLst/>
          </a:prstGeom>
          <a:solidFill>
            <a:srgbClr val="111726"/>
          </a:solidFill>
          <a:ln w="9525">
            <a:solidFill>
              <a:srgbClr val="1E274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480560" y="3092450"/>
            <a:ext cx="3337560" cy="885190"/>
          </a:xfrm>
          <a:prstGeom prst="rect">
            <a:avLst/>
          </a:prstGeom>
          <a:blipFill rotWithShape="1">
            <a:blip r:embed="rId2"/>
            <a:stretch>
              <a:fillRect/>
            </a:stretch>
          </a:blipFill>
          <a:ln w="6350">
            <a:solidFill>
              <a:srgbClr val="3A4358"/>
            </a:solidFill>
            <a:prstDash val="dash"/>
          </a:ln>
        </p:spPr>
      </p:sp>
      <p:sp>
        <p:nvSpPr>
          <p:cNvPr id="23" name="Text 21"/>
          <p:cNvSpPr/>
          <p:nvPr/>
        </p:nvSpPr>
        <p:spPr>
          <a:xfrm>
            <a:off x="4480560" y="3200400"/>
            <a:ext cx="333756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4297680" y="4023360"/>
            <a:ext cx="45720" cy="411480"/>
          </a:xfrm>
          <a:prstGeom prst="rect">
            <a:avLst/>
          </a:prstGeom>
          <a:solidFill>
            <a:srgbClr val="3CB371"/>
          </a:solidFill>
        </p:spPr>
      </p:sp>
      <p:sp>
        <p:nvSpPr>
          <p:cNvPr id="25" name="Text 23"/>
          <p:cNvSpPr/>
          <p:nvPr/>
        </p:nvSpPr>
        <p:spPr>
          <a:xfrm>
            <a:off x="4480560" y="4041648"/>
            <a:ext cx="457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CB37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V02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983480" y="4041648"/>
            <a:ext cx="288036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0F4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Mix Energético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983480" y="4251960"/>
            <a:ext cx="288036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B6783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17 tecnologías analizadas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8138160" y="3017520"/>
            <a:ext cx="3703320" cy="1417320"/>
          </a:xfrm>
          <a:prstGeom prst="rect">
            <a:avLst/>
          </a:prstGeom>
          <a:solidFill>
            <a:srgbClr val="111726"/>
          </a:solidFill>
          <a:ln w="9525">
            <a:solidFill>
              <a:srgbClr val="1E274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321040" y="3092450"/>
            <a:ext cx="3337560" cy="885190"/>
          </a:xfrm>
          <a:prstGeom prst="rect">
            <a:avLst/>
          </a:prstGeom>
          <a:blipFill rotWithShape="1">
            <a:blip r:embed="rId3"/>
            <a:stretch>
              <a:fillRect/>
            </a:stretch>
          </a:blipFill>
          <a:ln w="6350">
            <a:solidFill>
              <a:srgbClr val="3A4358"/>
            </a:solidFill>
            <a:prstDash val="dash"/>
          </a:ln>
        </p:spPr>
      </p:sp>
      <p:sp>
        <p:nvSpPr>
          <p:cNvPr id="30" name="Text 28"/>
          <p:cNvSpPr/>
          <p:nvPr/>
        </p:nvSpPr>
        <p:spPr>
          <a:xfrm>
            <a:off x="8321040" y="3200400"/>
            <a:ext cx="333756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8138160" y="4023360"/>
            <a:ext cx="45720" cy="411480"/>
          </a:xfrm>
          <a:prstGeom prst="rect">
            <a:avLst/>
          </a:prstGeom>
          <a:solidFill>
            <a:srgbClr val="A78BFA"/>
          </a:solidFill>
        </p:spPr>
      </p:sp>
      <p:sp>
        <p:nvSpPr>
          <p:cNvPr id="32" name="Text 30"/>
          <p:cNvSpPr/>
          <p:nvPr/>
        </p:nvSpPr>
        <p:spPr>
          <a:xfrm>
            <a:off x="8321040" y="4041648"/>
            <a:ext cx="457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A78BF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V03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8823960" y="4041648"/>
            <a:ext cx="288036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0F4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Demanda y Estabilidad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8823960" y="4251960"/>
            <a:ext cx="288036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B6783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Curvas históricas y estacionales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457200" y="4572000"/>
            <a:ext cx="3703320" cy="1417320"/>
          </a:xfrm>
          <a:prstGeom prst="rect">
            <a:avLst/>
          </a:prstGeom>
          <a:solidFill>
            <a:srgbClr val="111726"/>
          </a:solidFill>
          <a:ln w="9525">
            <a:solidFill>
              <a:srgbClr val="1E274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40080" y="4754880"/>
            <a:ext cx="3337560" cy="777240"/>
          </a:xfrm>
          <a:prstGeom prst="rect">
            <a:avLst/>
          </a:prstGeom>
          <a:blipFill rotWithShape="1">
            <a:blip r:embed="rId4"/>
            <a:stretch>
              <a:fillRect/>
            </a:stretch>
          </a:blipFill>
          <a:ln w="6350">
            <a:solidFill>
              <a:srgbClr val="3A4358"/>
            </a:solidFill>
            <a:prstDash val="dash"/>
          </a:ln>
        </p:spPr>
      </p:sp>
      <p:sp>
        <p:nvSpPr>
          <p:cNvPr id="37" name="Text 35"/>
          <p:cNvSpPr/>
          <p:nvPr/>
        </p:nvSpPr>
        <p:spPr>
          <a:xfrm>
            <a:off x="640080" y="4754880"/>
            <a:ext cx="333756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457200" y="5577840"/>
            <a:ext cx="45720" cy="411480"/>
          </a:xfrm>
          <a:prstGeom prst="rect">
            <a:avLst/>
          </a:prstGeom>
          <a:solidFill>
            <a:srgbClr val="FF6B6B"/>
          </a:solidFill>
        </p:spPr>
      </p:sp>
      <p:sp>
        <p:nvSpPr>
          <p:cNvPr id="39" name="Text 37"/>
          <p:cNvSpPr/>
          <p:nvPr/>
        </p:nvSpPr>
        <p:spPr>
          <a:xfrm>
            <a:off x="640080" y="5596128"/>
            <a:ext cx="457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6B6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V04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143000" y="5596128"/>
            <a:ext cx="288036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0F4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Día del Apagón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1143000" y="5806440"/>
            <a:ext cx="288036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B6783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28-abril-2025 minuto a minuto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4297680" y="4572000"/>
            <a:ext cx="3703320" cy="1417320"/>
          </a:xfrm>
          <a:prstGeom prst="rect">
            <a:avLst/>
          </a:prstGeom>
          <a:solidFill>
            <a:srgbClr val="111726"/>
          </a:solidFill>
          <a:ln w="9525">
            <a:solidFill>
              <a:srgbClr val="1E274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480560" y="4754880"/>
            <a:ext cx="3337560" cy="777240"/>
          </a:xfrm>
          <a:prstGeom prst="rect">
            <a:avLst/>
          </a:prstGeom>
          <a:blipFill rotWithShape="1">
            <a:blip r:embed="rId5"/>
            <a:stretch>
              <a:fillRect/>
            </a:stretch>
          </a:blipFill>
          <a:ln w="6350">
            <a:solidFill>
              <a:srgbClr val="3A4358"/>
            </a:solidFill>
            <a:prstDash val="dash"/>
          </a:ln>
        </p:spPr>
      </p:sp>
      <p:sp>
        <p:nvSpPr>
          <p:cNvPr id="44" name="Text 42"/>
          <p:cNvSpPr/>
          <p:nvPr/>
        </p:nvSpPr>
        <p:spPr>
          <a:xfrm>
            <a:off x="4480560" y="4754880"/>
            <a:ext cx="333756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4297680" y="5577840"/>
            <a:ext cx="45720" cy="411480"/>
          </a:xfrm>
          <a:prstGeom prst="rect">
            <a:avLst/>
          </a:prstGeom>
          <a:solidFill>
            <a:srgbClr val="F5C518"/>
          </a:solidFill>
        </p:spPr>
      </p:sp>
      <p:sp>
        <p:nvSpPr>
          <p:cNvPr id="46" name="Text 44"/>
          <p:cNvSpPr/>
          <p:nvPr/>
        </p:nvSpPr>
        <p:spPr>
          <a:xfrm>
            <a:off x="4480560" y="5596128"/>
            <a:ext cx="457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5C51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V05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4983480" y="5596128"/>
            <a:ext cx="288036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0F4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Anomalías y Crisis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4983480" y="5806440"/>
            <a:ext cx="288036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B6783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Eventos extremos detectados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8138160" y="4572000"/>
            <a:ext cx="3703320" cy="1417320"/>
          </a:xfrm>
          <a:prstGeom prst="rect">
            <a:avLst/>
          </a:prstGeom>
          <a:solidFill>
            <a:srgbClr val="111726"/>
          </a:solidFill>
          <a:ln w="9525">
            <a:solidFill>
              <a:srgbClr val="1E274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8321040" y="4754880"/>
            <a:ext cx="3337560" cy="777240"/>
          </a:xfrm>
          <a:prstGeom prst="rect">
            <a:avLst/>
          </a:prstGeom>
          <a:blipFill rotWithShape="1">
            <a:blip r:embed="rId6"/>
            <a:stretch>
              <a:fillRect/>
            </a:stretch>
          </a:blipFill>
          <a:ln w="6350">
            <a:solidFill>
              <a:srgbClr val="3A4358"/>
            </a:solidFill>
            <a:prstDash val="dash"/>
          </a:ln>
        </p:spPr>
      </p:sp>
      <p:sp>
        <p:nvSpPr>
          <p:cNvPr id="51" name="Text 49"/>
          <p:cNvSpPr/>
          <p:nvPr/>
        </p:nvSpPr>
        <p:spPr>
          <a:xfrm>
            <a:off x="8321040" y="4754880"/>
            <a:ext cx="333756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8138160" y="5577840"/>
            <a:ext cx="45720" cy="411480"/>
          </a:xfrm>
          <a:prstGeom prst="rect">
            <a:avLst/>
          </a:prstGeom>
          <a:solidFill>
            <a:srgbClr val="00D9FF"/>
          </a:solidFill>
        </p:spPr>
      </p:sp>
      <p:sp>
        <p:nvSpPr>
          <p:cNvPr id="53" name="Text 51"/>
          <p:cNvSpPr/>
          <p:nvPr/>
        </p:nvSpPr>
        <p:spPr>
          <a:xfrm>
            <a:off x="8321040" y="5596128"/>
            <a:ext cx="457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D9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V06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8823960" y="5596128"/>
            <a:ext cx="288036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0F4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Anatomía Técnica ESIOS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8823960" y="5806440"/>
            <a:ext cx="288036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B6783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Forensia horaria del evento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457200" y="6199632"/>
            <a:ext cx="112471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0D9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▸ </a:t>
            </a:r>
            <a:r>
              <a:rPr lang="en-US" sz="1200" dirty="0">
                <a:solidFill>
                  <a:srgbClr val="A8B3CC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Demo en vivo del producto al cierre de la presentación.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48640"/>
            <a:ext cx="91440" cy="91440"/>
          </a:xfrm>
          <a:prstGeom prst="ellipse">
            <a:avLst/>
          </a:prstGeom>
          <a:solidFill>
            <a:srgbClr val="00D9FF"/>
          </a:solidFill>
        </p:spPr>
      </p:sp>
      <p:sp>
        <p:nvSpPr>
          <p:cNvPr id="3" name="Text 1"/>
          <p:cNvSpPr/>
          <p:nvPr/>
        </p:nvSpPr>
        <p:spPr>
          <a:xfrm>
            <a:off x="640080" y="45720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500" dirty="0">
                <a:solidFill>
                  <a:srgbClr val="00D9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REDALYTICA.INTEL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685800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1828800" cy="0"/>
          </a:xfrm>
          <a:prstGeom prst="line">
            <a:avLst/>
          </a:prstGeom>
          <a:noFill/>
          <a:ln w="25400">
            <a:solidFill>
              <a:srgbClr val="00D9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057400"/>
            <a:ext cx="11277295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0F4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Esto no es un trabajo académico.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457200" y="2926080"/>
            <a:ext cx="11277295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A8B3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 la primera versión de un producto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457200" y="3520440"/>
            <a:ext cx="11277295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D9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que va a entrar al mercado.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5B678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</a:t>
            </a:r>
            <a:r>
              <a:rPr lang="es-ES" altLang="en-US" sz="1000" b="1" kern="0" spc="300" dirty="0">
                <a:solidFill>
                  <a:srgbClr val="5B678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SIGUIENTES PASOS:</a:t>
            </a:r>
            <a:endParaRPr lang="es-ES" altLang="en-US" sz="1000" b="1" kern="0" spc="300" dirty="0">
              <a:solidFill>
                <a:srgbClr val="5B6783"/>
              </a:solidFill>
              <a:latin typeface="Consolas" panose="020B0609020204030204" pitchFamily="34" charset="0"/>
              <a:ea typeface="Consolas" panose="020B0609020204030204" pitchFamily="34" charset="-122"/>
              <a:cs typeface="Consolas" panose="020B0609020204030204" pitchFamily="34" charset="-12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57200" y="5074920"/>
            <a:ext cx="3657600" cy="914400"/>
          </a:xfrm>
          <a:prstGeom prst="rect">
            <a:avLst/>
          </a:prstGeom>
          <a:solidFill>
            <a:srgbClr val="111726"/>
          </a:solidFill>
          <a:ln w="9525">
            <a:solidFill>
              <a:srgbClr val="1E274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5074920"/>
            <a:ext cx="45720" cy="914400"/>
          </a:xfrm>
          <a:prstGeom prst="rect">
            <a:avLst/>
          </a:prstGeom>
          <a:solidFill>
            <a:srgbClr val="00D9FF"/>
          </a:solidFill>
        </p:spPr>
      </p:sp>
      <p:sp>
        <p:nvSpPr>
          <p:cNvPr id="12" name="Text 10"/>
          <p:cNvSpPr/>
          <p:nvPr/>
        </p:nvSpPr>
        <p:spPr>
          <a:xfrm>
            <a:off x="685800" y="5166360"/>
            <a:ext cx="457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0D9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/01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234440" y="5148072"/>
            <a:ext cx="27432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F0F4F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VALIDA</a:t>
            </a:r>
            <a:r>
              <a:rPr lang="es-ES" altLang="en-US" sz="1400" b="1" kern="0" spc="400" dirty="0">
                <a:solidFill>
                  <a:srgbClr val="F0F4F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R</a:t>
            </a:r>
            <a:endParaRPr lang="es-ES" altLang="en-US" sz="1400" b="1" kern="0" spc="400" dirty="0">
              <a:solidFill>
                <a:srgbClr val="F0F4FA"/>
              </a:solidFill>
              <a:latin typeface="Consolas" panose="020B0609020204030204" pitchFamily="34" charset="0"/>
              <a:ea typeface="Consolas" panose="020B0609020204030204" pitchFamily="34" charset="-122"/>
              <a:cs typeface="Consolas" panose="020B0609020204030204" pitchFamily="34" charset="-12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685800" y="5486400"/>
            <a:ext cx="32918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B3CC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5 entrevistas piloto con clientes objetivo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343400" y="5074920"/>
            <a:ext cx="3657600" cy="914400"/>
          </a:xfrm>
          <a:prstGeom prst="rect">
            <a:avLst/>
          </a:prstGeom>
          <a:solidFill>
            <a:srgbClr val="111726"/>
          </a:solidFill>
          <a:ln w="9525">
            <a:solidFill>
              <a:srgbClr val="1E274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343400" y="5074920"/>
            <a:ext cx="45720" cy="914400"/>
          </a:xfrm>
          <a:prstGeom prst="rect">
            <a:avLst/>
          </a:prstGeom>
          <a:solidFill>
            <a:srgbClr val="00D9FF"/>
          </a:solidFill>
        </p:spPr>
      </p:sp>
      <p:sp>
        <p:nvSpPr>
          <p:cNvPr id="17" name="Text 15"/>
          <p:cNvSpPr/>
          <p:nvPr/>
        </p:nvSpPr>
        <p:spPr>
          <a:xfrm>
            <a:off x="4572000" y="5166360"/>
            <a:ext cx="457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0D9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/02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120640" y="5148072"/>
            <a:ext cx="27432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F0F4F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INCORPORA</a:t>
            </a:r>
            <a:r>
              <a:rPr lang="es-ES" altLang="en-US" sz="1400" b="1" kern="0" spc="400" dirty="0">
                <a:solidFill>
                  <a:srgbClr val="F0F4F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R</a:t>
            </a:r>
            <a:endParaRPr lang="es-ES" altLang="en-US" sz="1400" b="1" kern="0" spc="400" dirty="0">
              <a:solidFill>
                <a:srgbClr val="F0F4FA"/>
              </a:solidFill>
              <a:latin typeface="Consolas" panose="020B0609020204030204" pitchFamily="34" charset="0"/>
              <a:ea typeface="Consolas" panose="020B0609020204030204" pitchFamily="34" charset="-122"/>
              <a:cs typeface="Consolas" panose="020B0609020204030204" pitchFamily="34" charset="-12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4572000" y="5486400"/>
            <a:ext cx="32918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B3CC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Constitución vía programa CDTI Neotec / ENISA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8229600" y="5074920"/>
            <a:ext cx="3657600" cy="914400"/>
          </a:xfrm>
          <a:prstGeom prst="rect">
            <a:avLst/>
          </a:prstGeom>
          <a:solidFill>
            <a:srgbClr val="111726"/>
          </a:solidFill>
          <a:ln w="9525">
            <a:solidFill>
              <a:srgbClr val="1E274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229600" y="5074920"/>
            <a:ext cx="45720" cy="914400"/>
          </a:xfrm>
          <a:prstGeom prst="rect">
            <a:avLst/>
          </a:prstGeom>
          <a:solidFill>
            <a:srgbClr val="00D9FF"/>
          </a:solidFill>
        </p:spPr>
      </p:sp>
      <p:sp>
        <p:nvSpPr>
          <p:cNvPr id="22" name="Text 20"/>
          <p:cNvSpPr/>
          <p:nvPr/>
        </p:nvSpPr>
        <p:spPr>
          <a:xfrm>
            <a:off x="8458200" y="5166360"/>
            <a:ext cx="457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0D9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/03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9006840" y="5148072"/>
            <a:ext cx="27432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F0F4F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LA</a:t>
            </a:r>
            <a:r>
              <a:rPr lang="es-ES" altLang="en-US" sz="1400" b="1" kern="0" spc="400" dirty="0">
                <a:solidFill>
                  <a:srgbClr val="F0F4F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NZAMIENTO</a:t>
            </a:r>
            <a:endParaRPr lang="es-ES" altLang="en-US" sz="1400" b="1" kern="0" spc="400" dirty="0">
              <a:solidFill>
                <a:srgbClr val="F0F4FA"/>
              </a:solidFill>
              <a:latin typeface="Consolas" panose="020B0609020204030204" pitchFamily="34" charset="0"/>
              <a:ea typeface="Consolas" panose="020B0609020204030204" pitchFamily="34" charset="-122"/>
              <a:cs typeface="Consolas" panose="020B0609020204030204" pitchFamily="34" charset="-12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8458200" y="5486400"/>
            <a:ext cx="32918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B3CC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5 clientes recurrentes en los primeros 12 meses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7200" y="6355080"/>
            <a:ext cx="11277295" cy="0"/>
          </a:xfrm>
          <a:prstGeom prst="line">
            <a:avLst/>
          </a:prstGeom>
          <a:noFill/>
          <a:ln w="6350">
            <a:solidFill>
              <a:srgbClr val="3A435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6492240"/>
            <a:ext cx="2743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0D9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● THANK YOU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790895" y="6492240"/>
            <a:ext cx="5943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A8B3CC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Héctor Ferrándiz · Martina Arellano · David González · Irene Bautista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8454</Words>
  <Application>WPS Presentation</Application>
  <PresentationFormat>On-screen Show (16:9)</PresentationFormat>
  <Paragraphs>728</Paragraphs>
  <Slides>13</Slides>
  <Notes>13</Notes>
  <HiddenSlides>0</HiddenSlides>
  <MMClips>0</MMClips>
  <ScaleCrop>false</ScaleCrop>
  <HeadingPairs>
    <vt:vector size="6" baseType="variant">
      <vt:variant>
        <vt:lpstr>已用的字体</vt:lpstr>
      </vt:variant>
      <vt:variant>
        <vt:i4>19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33" baseType="lpstr">
      <vt:lpstr>Arial</vt:lpstr>
      <vt:lpstr>SimSun</vt:lpstr>
      <vt:lpstr>Wingdings</vt:lpstr>
      <vt:lpstr>Consolas</vt:lpstr>
      <vt:lpstr>Consolas</vt:lpstr>
      <vt:lpstr>Consolas</vt:lpstr>
      <vt:lpstr>Inter</vt:lpstr>
      <vt:lpstr>Segoe Print</vt:lpstr>
      <vt:lpstr>Inter</vt:lpstr>
      <vt:lpstr>Inter</vt:lpstr>
      <vt:lpstr>Segoe UI</vt:lpstr>
      <vt:lpstr>Segoe UI</vt:lpstr>
      <vt:lpstr>Segoe UI</vt:lpstr>
      <vt:lpstr>Arial</vt:lpstr>
      <vt:lpstr>Consolas</vt:lpstr>
      <vt:lpstr>Calibri</vt:lpstr>
      <vt:lpstr>Microsoft YaHei</vt:lpstr>
      <vt:lpstr>Arial Unicode MS</vt:lpstr>
      <vt:lpstr>MingLiU-ExtB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Redalytica Intelligence</dc:title>
  <dc:creator>Equipo Redalytica</dc:creator>
  <dc:subject>PptxGenJS Presentation</dc:subject>
  <cp:lastModifiedBy>Hector Farrandiz</cp:lastModifiedBy>
  <cp:revision>3</cp:revision>
  <dcterms:created xsi:type="dcterms:W3CDTF">2026-05-17T13:43:00Z</dcterms:created>
  <dcterms:modified xsi:type="dcterms:W3CDTF">2026-05-17T14:12:46Z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3082-12.1.0.26372</vt:lpwstr>
  </property>
  <property fmtid="{D5CDD505-2E9C-101B-9397-08002B2CF9AE}" pid="3" name="ICV">
    <vt:lpwstr>1235733211234956A7E7B76BF987E16B_13</vt:lpwstr>
  </property>
</Properties>
</file>